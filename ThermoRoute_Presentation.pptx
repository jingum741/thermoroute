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fb072ea-cddd-46d5-7164-f016b5670126}">
          <p14:sldIdLst>
            <p14:sldId id="256"/>
            <p14:sldId id="257"/>
            <p14:sldId id="258"/>
            <p14:sldId id="259"/>
          </p14:sldIdLst>
        </p14:section>
        <p14:section name="Method" id="{c21e692d-6694-60de-cb0a-3e0a4a64a4f1}">
          <p14:sldIdLst>
            <p14:sldId id="260"/>
            <p14:sldId id="261"/>
            <p14:sldId id="262"/>
            <p14:sldId id="263"/>
            <p14:sldId id="264"/>
          </p14:sldIdLst>
        </p14:section>
        <p14:section name="Experiments and results" id="{c89f1055-390e-ce83-1413-e6a032ebbfca}">
          <p14:sldIdLst>
            <p14:sldId id="265"/>
            <p14:sldId id="266"/>
            <p14:sldId id="267"/>
            <p14:sldId id="268"/>
            <p14:sldId id="269"/>
            <p14:sldId id="270"/>
            <p14:sldId id="271"/>
            <p14:sldId id="272"/>
            <p14:sldId id="273"/>
            <p14:sldId id="274"/>
            <p14:sldId id="275"/>
          </p14:sldIdLst>
        </p14:section>
        <p14:section name="Reproducing the results" id="{15b0c7a2-79f5-b353-0aca-3a0c38f395d1}">
          <p14:sldIdLst>
            <p14:sldId id="276"/>
            <p14:sldId id="277"/>
            <p14:sldId id="278"/>
            <p14:sldId id="279"/>
          </p14:sldIdLst>
        </p14:section>
        <p14:section name="Conclusion" id="{caaab5dd-aec9-245f-fcf9-904d63198669}">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Measured OLMoE 1B 7B perplexity on WikiText 103</a:t>
            </a:r>
          </a:p>
        </c:rich>
      </c:tx>
      <c:layout/>
      <c:overlay val="0"/>
    </c:title>
    <c:autoTitleDeleted val="0"/>
    <c:plotArea>
      <c:layout/>
      <c:barChart>
        <c:barDir val="col"/>
        <c:grouping val="clustered"/>
        <c:varyColors val="0"/>
        <c:ser>
          <c:idx val="0"/>
          <c:order val="0"/>
          <c:tx>
            <c:strRef>
              <c:f>Sheet1!$B$1</c:f>
              <c:strCache>
                <c:ptCount val="1"/>
                <c:pt idx="0">
                  <c:v>Perplexity</c:v>
                </c:pt>
              </c:strCache>
            </c:strRef>
          </c:tx>
          <c:spPr>
            <a:solidFill>
              <a:srgbClr val="8A94A0"/>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8A94A0"/>
              </a:solidFill>
              <a:effectLst/>
            </c:spPr>
          </c:dPt>
          <c:dPt>
            <c:idx val="1"/>
            <c:invertIfNegative val="0"/>
            <c:bubble3D val="0"/>
            <c:spPr>
              <a:solidFill>
                <a:srgbClr val="8A94A0"/>
              </a:solidFill>
              <a:effectLst/>
            </c:spPr>
          </c:dPt>
          <c:dPt>
            <c:idx val="2"/>
            <c:invertIfNegative val="0"/>
            <c:bubble3D val="0"/>
            <c:spPr>
              <a:solidFill>
                <a:srgbClr val="E4572E"/>
              </a:solidFill>
              <a:effectLst/>
            </c:spPr>
          </c:dPt>
          <c:dPt>
            <c:idx val="3"/>
            <c:invertIfNegative val="0"/>
            <c:bubble3D val="0"/>
            <c:spPr>
              <a:solidFill>
                <a:srgbClr val="3A4756"/>
              </a:solidFill>
              <a:effectLst/>
            </c:spPr>
          </c:dPt>
          <c:cat>
            <c:multiLvlStrRef>
              <c:f>Sheet1!$A$2:$A$5</c:f>
              <c:multiLvlStrCache>
                <c:ptCount val="4"/>
                <c:lvl>
                  <c:pt idx="0">
                    <c:v>k = 2</c:v>
                  </c:pt>
                  <c:pt idx="1">
                    <c:v>k = 4</c:v>
                  </c:pt>
                  <c:pt idx="2">
                    <c:v>k = 6</c:v>
                  </c:pt>
                  <c:pt idx="3">
                    <c:v>k = 8</c:v>
                  </c:pt>
                </c:lvl>
              </c:multiLvlStrCache>
            </c:multiLvlStrRef>
          </c:cat>
          <c:val>
            <c:numRef>
              <c:f>Sheet1!$B$2:$B$5</c:f>
              <c:numCache>
                <c:formatCode>General</c:formatCode>
                <c:ptCount val="4"/>
                <c:pt idx="0">
                  <c:v>27.38</c:v>
                </c:pt>
                <c:pt idx="1">
                  <c:v>11.53</c:v>
                </c:pt>
                <c:pt idx="2">
                  <c:v>9.4</c:v>
                </c:pt>
                <c:pt idx="3">
                  <c:v>8.93</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756"/>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D9DEE4"/>
              </a:solidFill>
              <a:prstDash val="solid"/>
              <a:round/>
            </a:ln>
          </c:spPr>
        </c:majorGridlines>
        <c:title>
          <c:tx>
            <c:rich>
              <a:bodyPr/>
              <a:lstStyle/>
              <a:p>
                <a:pPr>
                  <a:defRPr sz="1200" b="0" i="0" u="none" strike="noStrike">
                    <a:solidFill>
                      <a:srgbClr val="3A4756"/>
                    </a:solidFill>
                    <a:latin typeface="+mn-lt"/>
                  </a:defRPr>
                </a:pPr>
                <a:r>
                  <a:rPr sz="1200" b="0" i="0" u="none" strike="noStrike">
                    <a:solidFill>
                      <a:srgbClr val="3A4756"/>
                    </a:solidFill>
                    <a:latin typeface="+mn-lt"/>
                  </a:rPr>
                  <a:t>Perplexity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A475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430"/>
                </a:solidFill>
                <a:latin typeface="+mn-lt"/>
              </a:defRPr>
            </a:pPr>
            <a:r>
              <a:rPr sz="1400" b="0" i="0" u="none" strike="noStrike">
                <a:solidFill>
                  <a:srgbClr val="1B2430"/>
                </a:solidFill>
                <a:latin typeface="+mn-lt"/>
              </a:rPr>
              <a:t>Throttling time out of 1800 s (SoC A, agent, 35 °C)</a:t>
            </a:r>
          </a:p>
        </c:rich>
      </c:tx>
      <c:layout/>
      <c:overlay val="0"/>
    </c:title>
    <c:autoTitleDeleted val="0"/>
    <c:plotArea>
      <c:layout/>
      <c:barChart>
        <c:barDir val="bar"/>
        <c:grouping val="clustered"/>
        <c:varyColors val="0"/>
        <c:ser>
          <c:idx val="0"/>
          <c:order val="0"/>
          <c:tx>
            <c:strRef>
              <c:f>Sheet1!$B$1</c:f>
              <c:strCache>
                <c:ptCount val="1"/>
                <c:pt idx="0">
                  <c:v>Throttle time</c:v>
                </c:pt>
              </c:strCache>
            </c:strRef>
          </c:tx>
          <c:spPr>
            <a:solidFill>
              <a:srgbClr val="8A94A0"/>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8A94A0"/>
              </a:solidFill>
              <a:effectLst/>
            </c:spPr>
          </c:dPt>
          <c:dPt>
            <c:idx val="1"/>
            <c:invertIfNegative val="0"/>
            <c:bubble3D val="0"/>
            <c:spPr>
              <a:solidFill>
                <a:srgbClr val="8A94A0"/>
              </a:solidFill>
              <a:effectLst/>
            </c:spPr>
          </c:dPt>
          <c:dPt>
            <c:idx val="2"/>
            <c:invertIfNegative val="0"/>
            <c:bubble3D val="0"/>
            <c:spPr>
              <a:solidFill>
                <a:srgbClr val="8A94A0"/>
              </a:solidFill>
              <a:effectLst/>
            </c:spPr>
          </c:dPt>
          <c:dPt>
            <c:idx val="3"/>
            <c:invertIfNegative val="0"/>
            <c:bubble3D val="0"/>
            <c:spPr>
              <a:solidFill>
                <a:srgbClr val="8A94A0"/>
              </a:solidFill>
              <a:effectLst/>
            </c:spPr>
          </c:dPt>
          <c:dPt>
            <c:idx val="4"/>
            <c:invertIfNegative val="0"/>
            <c:bubble3D val="0"/>
            <c:spPr>
              <a:solidFill>
                <a:srgbClr val="E4572E"/>
              </a:solidFill>
              <a:effectLst/>
            </c:spPr>
          </c:dPt>
          <c:dPt>
            <c:idx val="5"/>
            <c:invertIfNegative val="0"/>
            <c:bubble3D val="0"/>
            <c:spPr>
              <a:solidFill>
                <a:srgbClr val="2E86AB"/>
              </a:solidFill>
              <a:effectLst/>
            </c:spPr>
          </c:dPt>
          <c:cat>
            <c:multiLvlStrRef>
              <c:f>Sheet1!$A$2:$A$7</c:f>
              <c:multiLvlStrCache>
                <c:ptCount val="6"/>
                <c:lvl>
                  <c:pt idx="0">
                    <c:v>EdgeLLM</c:v>
                  </c:pt>
                  <c:pt idx="1">
                    <c:v>EdgeMoE</c:v>
                  </c:pt>
                  <c:pt idx="2">
                    <c:v>StaticK4</c:v>
                  </c:pt>
                  <c:pt idx="3">
                    <c:v>FiDRL</c:v>
                  </c:pt>
                  <c:pt idx="4">
                    <c:v>ThermoRoute</c:v>
                  </c:pt>
                  <c:pt idx="5">
                    <c:v>ReactiveDVFS</c:v>
                  </c:pt>
                </c:lvl>
              </c:multiLvlStrCache>
            </c:multiLvlStrRef>
          </c:cat>
          <c:val>
            <c:numRef>
              <c:f>Sheet1!$B$2:$B$7</c:f>
              <c:numCache>
                <c:formatCode>General</c:formatCode>
                <c:ptCount val="6"/>
                <c:pt idx="0">
                  <c:v>1413.6</c:v>
                </c:pt>
                <c:pt idx="1">
                  <c:v>1358.1</c:v>
                </c:pt>
                <c:pt idx="2">
                  <c:v>1299.2</c:v>
                </c:pt>
                <c:pt idx="3">
                  <c:v>849.4</c:v>
                </c:pt>
                <c:pt idx="4">
                  <c:v>63</c:v>
                </c:pt>
                <c:pt idx="5">
                  <c:v>9.4</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A4756"/>
                </a:solidFill>
                <a:latin typeface="+mn-lt"/>
              </a:defRPr>
            </a:pPr>
            <a:endParaRPr lang="en-US"/>
          </a:p>
        </c:txPr>
        <c:crossAx val="2094734552"/>
        <c:crosses val="autoZero"/>
        <c:auto val="1"/>
        <c:lblAlgn val="ctr"/>
        <c:noMultiLvlLbl val="1"/>
      </c:catAx>
      <c:valAx>
        <c:axId val="2094734552"/>
        <c:scaling>
          <c:orientation val="minMax"/>
          <c:max val="1600"/>
          <c:min val="0"/>
        </c:scaling>
        <c:delete val="0"/>
        <c:axPos val="b"/>
        <c:majorGridlines>
          <c:spPr>
            <a:ln w="6350" cap="flat">
              <a:solidFill>
                <a:srgbClr val="D9DEE4"/>
              </a:solidFill>
              <a:prstDash val="solid"/>
              <a:round/>
            </a:ln>
          </c:spPr>
        </c:majorGridlines>
        <c:title>
          <c:tx>
            <c:rich>
              <a:bodyPr/>
              <a:lstStyle/>
              <a:p>
                <a:pPr>
                  <a:defRPr sz="1200" b="0" i="0" u="none" strike="noStrike">
                    <a:solidFill>
                      <a:srgbClr val="3A4756"/>
                    </a:solidFill>
                    <a:latin typeface="+mn-lt"/>
                  </a:defRPr>
                </a:pPr>
                <a:r>
                  <a:rPr sz="1200" b="0" i="0" u="none" strike="noStrike">
                    <a:solidFill>
                      <a:srgbClr val="3A4756"/>
                    </a:solidFill>
                    <a:latin typeface="+mn-lt"/>
                  </a:rPr>
                  <a:t>Seconds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3A475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ThermoRoute is a model predictive controller that decides, every second, how many experts an MoE language model activates, at which frequency, and on which processor cluster, so that a smartphone stays below its skin limit while it decodes. The three numbers on the right are the headline results at 35 °C ambient on the flagship SoC with the agent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phone has no fan, and every joule spent on decoding ends up as heat in a sealed case. In a sustained chat or agent session the device heats, the governor cuts frequency, throughput collapses, the device cools, and the cycle repeats. ThermoRoute predicts the skin trajectory and acts before the governor has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knobs interact: the expert budget sets bytes per token, the frequency sets bandwidth and dynamic power, and together they set how long the device stays busy and how much heat it absorbs over minutes. No prior system controls the number of active experts against a predicted temperature trajectory.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contributions follow the paper structure: system model and formulation in Section 3, the controller in Section 4, the measured profile in Sections 5.1 and 6.1, and the validation in Section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Decoding at batch size one is limited by memory traffic. Each token reads the shared weights plus k expert slots, so the rate falls as k grows. Power at a fixed frequency does not depend on k because the memory system is saturated; k changes how many tokens each byte yields. The die responds in about 20 s and the skin in about 300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filter gains are 0.5 for the die and 0.15 for the skin. The bias correction uses a forgetting factor of 0.9 and is clipped to 2 °C for the die and 0.5 °C for the skin. The whole action set is small enough to enumerate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costs |U| times (H plus 1) elementary updates, 528 for 48 actions and a 10 s horizon, which runs in about 1 ms in unoptimized Python. Weights (wq, we, ws) = (10, 2, 6) were chosen on training seeds only, never on test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a lookahead term is needed in addition to the short horizon: the skin limit is the binding constraint in sustained sessions, and it moves on a time scale of minutes. Lemma 1 gives the closed form lookahead from a quasi static die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baselines share the same plant, governor, and workload and are reimplemented at the mechanism level inside one simulator. The default plant mismatch is 10%. Phone weights are stored at 0.56 bytes per parameter, corresponding to 4 bit group quantization.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rises gently from 8.93 at k = 8 to 9.40 at k = 6, then sharply to 11.53 at k = 4 and 27.38 at k = 2. The measured union of 23.89 is below the 31.17 expected from independent routing, which shows correlation between neighboring tokens, but it is still three times the eight experts of a plain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trace is SoC A at 35 °C, agent workload, seed 0. Panels show die temperature, skin temperature, the ThermoRoute expert budget, decoding rate, and the governor cap. The steady behavior comes from the lookahead, which charges the skin violation that a sustained full budget would cause minutes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ThermoRoute limits throttling to 63.0 s of the 1800 s session. ReactiveDVFS reaches 9.4 s and the difference is not significant after Holm correction, but it achieves this by slowing every response: its p95 latency is 28.50 s against 17.99 s and its violation rate is 57.5%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are means over 20 seeds from results/summary_all_conditions.csv and Table 5 of the paper. Against StaticK4 the energy difference is not significant, but ThermoRoute removes 95.2% of its throttling and reduces its perplexity by 18.4%. The Oracle throttles for 102.3 s, so knowing the true parameters gives no measurable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25 °C ThermoRoute attains the lowest energy per token, 0.1140 J, which is 41.5%, 38.6%, 18.7%, and 13.9% lower than EdgeMoE, ReactiveDVFS, FiDRL, and StaticK4, and the most tokens per charge, 607.8 thousand.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EdgeMoE throttling grows from 305.0 s at 25 °C to 1358.1 s at 35 °C on SoC A. ThermoRoute stays at zero in nine of twelve conditions and at 63.0, 15.8, and 46.3 s in the other three. Wherever EdgeMoE throttles, ThermoRoute removes between 93.8% and 100% of it, while keeping perplexity at most 9.40 against 11.53 for StaticK4.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Throttling does not fall consistently with the horizon: for a 1 °C margin it is 19.1, 63.0, 74.1, and 29.2 s for H of 5, 10, 20, and 40 s, because the lookahead already covers the slow skin dynamics. A conservative choice of λ = 10 or a 2 °C margin removes throttling at 35 °C entirely, at a p95 latency 1.3% and 4.7% higher than the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parameter errors are the main weakness of a model based controller, and the clipping bounds of the bias correction limit how much error can be absorbed online. A larger skin margin or online identification of the thermal parameters would recover the margin lost to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raw_runs.zip holds the per session samples and traces used by the dynamics, latency CDF, and overhead figures. Unzip it inside results before regenerating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notebook from the repository root, top to bottom. Each step saves its outputs and is skipped on a rerun, so a Colab disconnect only costs the step that was running. Step 1 needs a GPU such as a Colab T4. Step 2 needs accepting the LMSYS Chat 1M terms and a Hugging Face read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regenerated LaTeX tables match the archived ones exactly. transformers is pinned to 4.51.3 so OLMoE experts stay nn.Linear layers for 8 bit loading in Step 1. Figures use Times New Roman; on Linux install ttf-mscorefonts-installer.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3246120"/>
            <a:ext cx="6583680" cy="13716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10881360" cy="10058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794760"/>
            <a:ext cx="10881360" cy="73152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ThermoRoute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4.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ThermoRoute</a:t>
            </a:r>
            <a:endParaRPr lang="en-US" sz="5400" dirty="0"/>
          </a:p>
        </p:txBody>
      </p:sp>
      <p:sp>
        <p:nvSpPr>
          <p:cNvPr id="3" name="Text 0"/>
          <p:cNvSpPr/>
          <p:nvPr>
            <p:ph idx="101" type="body" hasCustomPrompt="1"/>
          </p:nvPr>
        </p:nvSpPr>
        <p:spPr>
          <a:xfrm>
            <a:off x="640080" y="3246120"/>
            <a:ext cx="6583680" cy="1371600"/>
          </a:xfrm>
          <a:prstGeom prst="rect">
            <a:avLst/>
          </a:prstGeom>
          <a:noFill/>
          <a:ln/>
        </p:spPr>
        <p:txBody>
          <a:bodyPr wrap="square" lIns="0" tIns="0" rIns="0" bIns="0" rtlCol="0" anchor="t"/>
          <a:lstStyle/>
          <a:p>
            <a:pPr indent="0" marL="0">
              <a:buNone/>
            </a:pPr>
            <a:r>
              <a:rPr lang="en-US" sz="2000" dirty="0">
                <a:solidFill>
                  <a:schemeClr val="bg2"/>
                </a:solidFill>
              </a:rPr>
              <a:t>Thermal throttling aware expert scheduling for smartphone mixture of experts inference</a:t>
            </a:r>
            <a:endParaRPr lang="en-US" sz="2000" dirty="0"/>
          </a:p>
        </p:txBody>
      </p:sp>
      <p:sp>
        <p:nvSpPr>
          <p:cNvPr id="4" name="deck purpose"/>
          <p:cNvSpPr txBox="1"/>
          <p:nvPr/>
        </p:nvSpPr>
        <p:spPr>
          <a:xfrm>
            <a:off x="640080" y="4846320"/>
            <a:ext cx="6583680" cy="365760"/>
          </a:xfrm>
          <a:prstGeom prst="rect">
            <a:avLst/>
          </a:prstGeom>
          <a:noFill/>
          <a:ln/>
        </p:spPr>
        <p:txBody>
          <a:bodyPr wrap="square" lIns="0" tIns="0" rIns="0" bIns="0" rtlCol="0" anchor="ctr"/>
          <a:lstStyle/>
          <a:p>
            <a:pPr indent="0" marL="0">
              <a:buNone/>
            </a:pPr>
            <a:r>
              <a:rPr lang="en-US" sz="1400" i="1" dirty="0">
                <a:solidFill>
                  <a:schemeClr val="accent2"/>
                </a:solidFill>
              </a:rPr>
              <a:t>Paper overview, results, and reproduction guide</a:t>
            </a:r>
            <a:endParaRPr lang="en-US" sz="1400" dirty="0"/>
          </a:p>
        </p:txBody>
      </p:sp>
      <p:sp>
        <p:nvSpPr>
          <p:cNvPr id="5" name="title stat 1"/>
          <p:cNvSpPr txBox="1"/>
          <p:nvPr/>
        </p:nvSpPr>
        <p:spPr>
          <a:xfrm>
            <a:off x="8138160" y="1417320"/>
            <a:ext cx="34747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&gt;92%</a:t>
            </a:r>
            <a:endParaRPr lang="en-US" sz="4000" dirty="0"/>
          </a:p>
        </p:txBody>
      </p:sp>
      <p:sp>
        <p:nvSpPr>
          <p:cNvPr id="6" name="title stat label 1"/>
          <p:cNvSpPr txBox="1"/>
          <p:nvPr/>
        </p:nvSpPr>
        <p:spPr>
          <a:xfrm>
            <a:off x="8138160" y="2103120"/>
            <a:ext cx="3474720" cy="548640"/>
          </a:xfrm>
          <a:prstGeom prst="rect">
            <a:avLst/>
          </a:prstGeom>
          <a:noFill/>
          <a:ln/>
        </p:spPr>
        <p:txBody>
          <a:bodyPr wrap="square" lIns="0" tIns="0" rIns="0" bIns="0" rtlCol="0" anchor="t"/>
          <a:lstStyle/>
          <a:p>
            <a:pPr indent="0" marL="0">
              <a:buNone/>
            </a:pPr>
            <a:r>
              <a:rPr lang="en-US" sz="1300" dirty="0">
                <a:solidFill>
                  <a:schemeClr val="bg2"/>
                </a:solidFill>
              </a:rPr>
              <a:t>less throttling time than full expert, static pruning, and learned baselines</a:t>
            </a:r>
            <a:endParaRPr lang="en-US" sz="1300" dirty="0"/>
          </a:p>
        </p:txBody>
      </p:sp>
      <p:sp>
        <p:nvSpPr>
          <p:cNvPr id="7" name="title stat 2"/>
          <p:cNvSpPr txBox="1"/>
          <p:nvPr/>
        </p:nvSpPr>
        <p:spPr>
          <a:xfrm>
            <a:off x="8138160" y="2788920"/>
            <a:ext cx="34747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22%</a:t>
            </a:r>
            <a:endParaRPr lang="en-US" sz="4000" dirty="0"/>
          </a:p>
        </p:txBody>
      </p:sp>
      <p:sp>
        <p:nvSpPr>
          <p:cNvPr id="8" name="title stat label 2"/>
          <p:cNvSpPr txBox="1"/>
          <p:nvPr/>
        </p:nvSpPr>
        <p:spPr>
          <a:xfrm>
            <a:off x="8138160" y="3474720"/>
            <a:ext cx="3474720" cy="548640"/>
          </a:xfrm>
          <a:prstGeom prst="rect">
            <a:avLst/>
          </a:prstGeom>
          <a:noFill/>
          <a:ln/>
        </p:spPr>
        <p:txBody>
          <a:bodyPr wrap="square" lIns="0" tIns="0" rIns="0" bIns="0" rtlCol="0" anchor="t"/>
          <a:lstStyle/>
          <a:p>
            <a:pPr indent="0" marL="0">
              <a:buNone/>
            </a:pPr>
            <a:r>
              <a:rPr lang="en-US" sz="1300" dirty="0">
                <a:solidFill>
                  <a:schemeClr val="bg2"/>
                </a:solidFill>
              </a:rPr>
              <a:t>lower energy per token than reactive DVFS</a:t>
            </a:r>
            <a:endParaRPr lang="en-US" sz="1300" dirty="0"/>
          </a:p>
        </p:txBody>
      </p:sp>
      <p:sp>
        <p:nvSpPr>
          <p:cNvPr id="9" name="title stat 3"/>
          <p:cNvSpPr txBox="1"/>
          <p:nvPr/>
        </p:nvSpPr>
        <p:spPr>
          <a:xfrm>
            <a:off x="8138160" y="4160520"/>
            <a:ext cx="347472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37%</a:t>
            </a:r>
            <a:endParaRPr lang="en-US" sz="4000" dirty="0"/>
          </a:p>
        </p:txBody>
      </p:sp>
      <p:sp>
        <p:nvSpPr>
          <p:cNvPr id="10" name="title stat label 3"/>
          <p:cNvSpPr txBox="1"/>
          <p:nvPr/>
        </p:nvSpPr>
        <p:spPr>
          <a:xfrm>
            <a:off x="8138160" y="4846320"/>
            <a:ext cx="3474720" cy="548640"/>
          </a:xfrm>
          <a:prstGeom prst="rect">
            <a:avLst/>
          </a:prstGeom>
          <a:noFill/>
          <a:ln/>
        </p:spPr>
        <p:txBody>
          <a:bodyPr wrap="square" lIns="0" tIns="0" rIns="0" bIns="0" rtlCol="0" anchor="t"/>
          <a:lstStyle/>
          <a:p>
            <a:pPr indent="0" marL="0">
              <a:buNone/>
            </a:pPr>
            <a:r>
              <a:rPr lang="en-US" sz="1300" dirty="0">
                <a:solidFill>
                  <a:schemeClr val="bg2"/>
                </a:solidFill>
              </a:rPr>
              <a:t>lower p95 latency than reactive DVFS</a:t>
            </a:r>
            <a:endParaRPr lang="en-US" sz="1300" dirty="0"/>
          </a:p>
        </p:txBody>
      </p:sp>
      <p:sp>
        <p:nvSpPr>
          <p:cNvPr id="11" name="title stat condition"/>
          <p:cNvSpPr txBox="1"/>
          <p:nvPr/>
        </p:nvSpPr>
        <p:spPr>
          <a:xfrm>
            <a:off x="8138160" y="5577840"/>
            <a:ext cx="3474720" cy="274320"/>
          </a:xfrm>
          <a:prstGeom prst="rect">
            <a:avLst/>
          </a:prstGeom>
          <a:noFill/>
          <a:ln/>
        </p:spPr>
        <p:txBody>
          <a:bodyPr wrap="square" lIns="0" tIns="0" rIns="0" bIns="0" rtlCol="0" anchor="ctr"/>
          <a:lstStyle/>
          <a:p>
            <a:pPr indent="0" marL="0">
              <a:buNone/>
            </a:pPr>
            <a:r>
              <a:rPr lang="en-US" sz="1100" dirty="0">
                <a:solidFill>
                  <a:schemeClr val="accent5"/>
                </a:solidFill>
              </a:rPr>
              <a:t>SoC A, agent workload, 35 °C ambient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Sustained MoE decoding heats the phone until it throttles</a:t>
            </a:r>
            <a:endParaRPr lang="en-US" sz="3000" dirty="0"/>
          </a:p>
        </p:txBody>
      </p:sp>
      <p:pic>
        <p:nvPicPr>
          <p:cNvPr id="3" name="Figure 1 motivation" descr="/tmp/deck/img/pdf-000.png">    </p:cNvPr>
          <p:cNvPicPr>
            <a:picLocks noChangeAspect="1"/>
          </p:cNvPicPr>
          <p:nvPr/>
        </p:nvPicPr>
        <p:blipFill>
          <a:blip r:embed="rId1"/>
          <a:stretch>
            <a:fillRect/>
          </a:stretch>
        </p:blipFill>
        <p:spPr>
          <a:xfrm>
            <a:off x="1527048" y="1234440"/>
            <a:ext cx="9144000" cy="4513327"/>
          </a:xfrm>
          <a:prstGeom prst="rect">
            <a:avLst/>
          </a:prstGeom>
        </p:spPr>
      </p:pic>
      <p:sp>
        <p:nvSpPr>
          <p:cNvPr id="4" name="figure 1 caption"/>
          <p:cNvSpPr txBox="1"/>
          <p:nvPr/>
        </p:nvSpPr>
        <p:spPr>
          <a:xfrm>
            <a:off x="1527048" y="5852160"/>
            <a:ext cx="9144000" cy="457200"/>
          </a:xfrm>
          <a:prstGeom prst="rect">
            <a:avLst/>
          </a:prstGeom>
          <a:noFill/>
          <a:ln/>
        </p:spPr>
        <p:txBody>
          <a:bodyPr wrap="square" lIns="0" tIns="0" rIns="0" bIns="0" rtlCol="0" anchor="ctr"/>
          <a:lstStyle/>
          <a:p>
            <a:pPr indent="0" marL="0">
              <a:buNone/>
            </a:pPr>
            <a:r>
              <a:rPr lang="en-US" sz="1200" dirty="0">
                <a:solidFill>
                  <a:schemeClr val="accent5"/>
                </a:solidFill>
              </a:rPr>
              <a:t>Left: full budget decoding reaches the 43 °C skin limit and the OS governor cuts frequency. Right: ThermoRoute lowers the expert budget before the limit, so decoding stays steady.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Existing remedies control only part of the loop</a:t>
            </a:r>
            <a:endParaRPr lang="en-US" sz="3000" dirty="0"/>
          </a:p>
        </p:txBody>
      </p:sp>
      <p:sp>
        <p:nvSpPr>
          <p:cNvPr id="3" name="gap card 1"/>
          <p:cNvSpPr/>
          <p:nvPr/>
        </p:nvSpPr>
        <p:spPr>
          <a:xfrm>
            <a:off x="548640" y="1417320"/>
            <a:ext cx="5394960" cy="1828800"/>
          </a:xfrm>
          <a:prstGeom prst="roundRect">
            <a:avLst>
              <a:gd name="adj" fmla="val 4000"/>
            </a:avLst>
          </a:prstGeom>
          <a:solidFill>
            <a:schemeClr val="bg2"/>
          </a:solidFill>
          <a:ln w="12700">
            <a:solidFill>
              <a:schemeClr val="bg2"/>
            </a:solidFill>
            <a:prstDash val="solid"/>
          </a:ln>
        </p:spPr>
      </p:sp>
      <p:sp>
        <p:nvSpPr>
          <p:cNvPr id="4" name="gap 1 circle"/>
          <p:cNvSpPr/>
          <p:nvPr/>
        </p:nvSpPr>
        <p:spPr>
          <a:xfrm>
            <a:off x="868680" y="1783080"/>
            <a:ext cx="685800" cy="685800"/>
          </a:xfrm>
          <a:prstGeom prst="ellipse">
            <a:avLst/>
          </a:prstGeom>
          <a:solidFill>
            <a:schemeClr val="accent3"/>
          </a:solidFill>
          <a:ln w="12700">
            <a:solidFill>
              <a:schemeClr val="accent3"/>
            </a:solidFill>
            <a:prstDash val="solid"/>
          </a:ln>
        </p:spPr>
      </p:sp>
      <p:pic>
        <p:nvPicPr>
          <p:cNvPr id="5" name="gap 1 icon" descr="preencoded.png">    </p:cNvPr>
          <p:cNvPicPr>
            <a:picLocks noChangeAspect="1"/>
          </p:cNvPicPr>
          <p:nvPr/>
        </p:nvPicPr>
        <p:blipFill>
          <a:blip r:embed="rId1"/>
          <a:stretch>
            <a:fillRect/>
          </a:stretch>
        </p:blipFill>
        <p:spPr>
          <a:xfrm>
            <a:off x="1040130" y="1954530"/>
            <a:ext cx="342900" cy="342900"/>
          </a:xfrm>
          <a:prstGeom prst="rect">
            <a:avLst/>
          </a:prstGeom>
        </p:spPr>
      </p:pic>
      <p:sp>
        <p:nvSpPr>
          <p:cNvPr id="6" name="gap head 1"/>
          <p:cNvSpPr txBox="1"/>
          <p:nvPr/>
        </p:nvSpPr>
        <p:spPr>
          <a:xfrm>
            <a:off x="1783080" y="1737360"/>
            <a:ext cx="3931920" cy="411480"/>
          </a:xfrm>
          <a:prstGeom prst="rect">
            <a:avLst/>
          </a:prstGeom>
          <a:noFill/>
          <a:ln/>
        </p:spPr>
        <p:txBody>
          <a:bodyPr wrap="square" lIns="0" tIns="0" rIns="0" bIns="0" rtlCol="0" anchor="ctr"/>
          <a:lstStyle/>
          <a:p>
            <a:pPr indent="0" marL="0">
              <a:buNone/>
            </a:pPr>
            <a:r>
              <a:rPr lang="en-US" sz="1800" b="1" dirty="0">
                <a:solidFill>
                  <a:schemeClr val="tx1"/>
                </a:solidFill>
              </a:rPr>
              <a:t>Static expert pruning</a:t>
            </a:r>
            <a:endParaRPr lang="en-US" sz="1800" dirty="0"/>
          </a:p>
        </p:txBody>
      </p:sp>
      <p:sp>
        <p:nvSpPr>
          <p:cNvPr id="7" name="gap text 1"/>
          <p:cNvSpPr txBox="1"/>
          <p:nvPr/>
        </p:nvSpPr>
        <p:spPr>
          <a:xfrm>
            <a:off x="1783080" y="2194560"/>
            <a:ext cx="3931920" cy="1097280"/>
          </a:xfrm>
          <a:prstGeom prst="rect">
            <a:avLst/>
          </a:prstGeom>
          <a:noFill/>
          <a:ln/>
        </p:spPr>
        <p:txBody>
          <a:bodyPr wrap="square" lIns="0" tIns="0" rIns="0" bIns="0" rtlCol="0" anchor="t"/>
          <a:lstStyle/>
          <a:p>
            <a:pPr indent="0" marL="0">
              <a:buNone/>
            </a:pPr>
            <a:r>
              <a:rPr lang="en-US" sz="1500" dirty="0">
                <a:solidFill>
                  <a:schemeClr val="tx2"/>
                </a:solidFill>
              </a:rPr>
              <a:t>Fixed budget either wastes quality when the phone is cool or still throttles when it is hot.</a:t>
            </a:r>
            <a:endParaRPr lang="en-US" sz="1500" dirty="0"/>
          </a:p>
        </p:txBody>
      </p:sp>
      <p:sp>
        <p:nvSpPr>
          <p:cNvPr id="8" name="gap card 2"/>
          <p:cNvSpPr/>
          <p:nvPr/>
        </p:nvSpPr>
        <p:spPr>
          <a:xfrm>
            <a:off x="6217920" y="1417320"/>
            <a:ext cx="5394960" cy="1828800"/>
          </a:xfrm>
          <a:prstGeom prst="roundRect">
            <a:avLst>
              <a:gd name="adj" fmla="val 4000"/>
            </a:avLst>
          </a:prstGeom>
          <a:solidFill>
            <a:schemeClr val="bg2"/>
          </a:solidFill>
          <a:ln w="12700">
            <a:solidFill>
              <a:schemeClr val="bg2"/>
            </a:solidFill>
            <a:prstDash val="solid"/>
          </a:ln>
        </p:spPr>
      </p:sp>
      <p:sp>
        <p:nvSpPr>
          <p:cNvPr id="9" name="gap 2 circle"/>
          <p:cNvSpPr/>
          <p:nvPr/>
        </p:nvSpPr>
        <p:spPr>
          <a:xfrm>
            <a:off x="6537960" y="1783080"/>
            <a:ext cx="685800" cy="685800"/>
          </a:xfrm>
          <a:prstGeom prst="ellipse">
            <a:avLst/>
          </a:prstGeom>
          <a:solidFill>
            <a:schemeClr val="accent3"/>
          </a:solidFill>
          <a:ln w="12700">
            <a:solidFill>
              <a:schemeClr val="accent3"/>
            </a:solidFill>
            <a:prstDash val="solid"/>
          </a:ln>
        </p:spPr>
      </p:sp>
      <p:pic>
        <p:nvPicPr>
          <p:cNvPr id="10" name="gap 2 icon" descr="preencoded.png">    </p:cNvPr>
          <p:cNvPicPr>
            <a:picLocks noChangeAspect="1"/>
          </p:cNvPicPr>
          <p:nvPr/>
        </p:nvPicPr>
        <p:blipFill>
          <a:blip r:embed="rId2"/>
          <a:stretch>
            <a:fillRect/>
          </a:stretch>
        </p:blipFill>
        <p:spPr>
          <a:xfrm>
            <a:off x="6709410" y="1954530"/>
            <a:ext cx="342900" cy="342900"/>
          </a:xfrm>
          <a:prstGeom prst="rect">
            <a:avLst/>
          </a:prstGeom>
        </p:spPr>
      </p:pic>
      <p:sp>
        <p:nvSpPr>
          <p:cNvPr id="11" name="gap head 2"/>
          <p:cNvSpPr txBox="1"/>
          <p:nvPr/>
        </p:nvSpPr>
        <p:spPr>
          <a:xfrm>
            <a:off x="7452360" y="1737360"/>
            <a:ext cx="3931920" cy="411480"/>
          </a:xfrm>
          <a:prstGeom prst="rect">
            <a:avLst/>
          </a:prstGeom>
          <a:noFill/>
          <a:ln/>
        </p:spPr>
        <p:txBody>
          <a:bodyPr wrap="square" lIns="0" tIns="0" rIns="0" bIns="0" rtlCol="0" anchor="ctr"/>
          <a:lstStyle/>
          <a:p>
            <a:pPr indent="0" marL="0">
              <a:buNone/>
            </a:pPr>
            <a:r>
              <a:rPr lang="en-US" sz="1800" b="1" dirty="0">
                <a:solidFill>
                  <a:schemeClr val="tx1"/>
                </a:solidFill>
              </a:rPr>
              <a:t>Reactive DVFS</a:t>
            </a:r>
            <a:endParaRPr lang="en-US" sz="1800" dirty="0"/>
          </a:p>
        </p:txBody>
      </p:sp>
      <p:sp>
        <p:nvSpPr>
          <p:cNvPr id="12" name="gap text 2"/>
          <p:cNvSpPr txBox="1"/>
          <p:nvPr/>
        </p:nvSpPr>
        <p:spPr>
          <a:xfrm>
            <a:off x="7452360" y="2194560"/>
            <a:ext cx="3931920" cy="1097280"/>
          </a:xfrm>
          <a:prstGeom prst="rect">
            <a:avLst/>
          </a:prstGeom>
          <a:noFill/>
          <a:ln/>
        </p:spPr>
        <p:txBody>
          <a:bodyPr wrap="square" lIns="0" tIns="0" rIns="0" bIns="0" rtlCol="0" anchor="t"/>
          <a:lstStyle/>
          <a:p>
            <a:pPr indent="0" marL="0">
              <a:buNone/>
            </a:pPr>
            <a:r>
              <a:rPr lang="en-US" sz="1500" dirty="0">
                <a:solidFill>
                  <a:schemeClr val="tx2"/>
                </a:solidFill>
              </a:rPr>
              <a:t>Cools the device but treats the model as a black box, so every response slows down.</a:t>
            </a:r>
            <a:endParaRPr lang="en-US" sz="1500" dirty="0"/>
          </a:p>
        </p:txBody>
      </p:sp>
      <p:sp>
        <p:nvSpPr>
          <p:cNvPr id="13" name="gap card 3"/>
          <p:cNvSpPr/>
          <p:nvPr/>
        </p:nvSpPr>
        <p:spPr>
          <a:xfrm>
            <a:off x="548640" y="3566160"/>
            <a:ext cx="5394960" cy="1828800"/>
          </a:xfrm>
          <a:prstGeom prst="roundRect">
            <a:avLst>
              <a:gd name="adj" fmla="val 4000"/>
            </a:avLst>
          </a:prstGeom>
          <a:solidFill>
            <a:schemeClr val="bg2"/>
          </a:solidFill>
          <a:ln w="12700">
            <a:solidFill>
              <a:schemeClr val="bg2"/>
            </a:solidFill>
            <a:prstDash val="solid"/>
          </a:ln>
        </p:spPr>
      </p:sp>
      <p:sp>
        <p:nvSpPr>
          <p:cNvPr id="14" name="gap 3 circle"/>
          <p:cNvSpPr/>
          <p:nvPr/>
        </p:nvSpPr>
        <p:spPr>
          <a:xfrm>
            <a:off x="868680" y="3931920"/>
            <a:ext cx="685800" cy="685800"/>
          </a:xfrm>
          <a:prstGeom prst="ellipse">
            <a:avLst/>
          </a:prstGeom>
          <a:solidFill>
            <a:schemeClr val="accent3"/>
          </a:solidFill>
          <a:ln w="12700">
            <a:solidFill>
              <a:schemeClr val="accent3"/>
            </a:solidFill>
            <a:prstDash val="solid"/>
          </a:ln>
        </p:spPr>
      </p:sp>
      <p:pic>
        <p:nvPicPr>
          <p:cNvPr id="15" name="gap 3 icon" descr="preencoded.png">    </p:cNvPr>
          <p:cNvPicPr>
            <a:picLocks noChangeAspect="1"/>
          </p:cNvPicPr>
          <p:nvPr/>
        </p:nvPicPr>
        <p:blipFill>
          <a:blip r:embed="rId3"/>
          <a:stretch>
            <a:fillRect/>
          </a:stretch>
        </p:blipFill>
        <p:spPr>
          <a:xfrm>
            <a:off x="1040130" y="4103370"/>
            <a:ext cx="342900" cy="342900"/>
          </a:xfrm>
          <a:prstGeom prst="rect">
            <a:avLst/>
          </a:prstGeom>
        </p:spPr>
      </p:pic>
      <p:sp>
        <p:nvSpPr>
          <p:cNvPr id="16" name="gap head 3"/>
          <p:cNvSpPr txBox="1"/>
          <p:nvPr/>
        </p:nvSpPr>
        <p:spPr>
          <a:xfrm>
            <a:off x="1783080" y="3886200"/>
            <a:ext cx="3931920" cy="411480"/>
          </a:xfrm>
          <a:prstGeom prst="rect">
            <a:avLst/>
          </a:prstGeom>
          <a:noFill/>
          <a:ln/>
        </p:spPr>
        <p:txBody>
          <a:bodyPr wrap="square" lIns="0" tIns="0" rIns="0" bIns="0" rtlCol="0" anchor="ctr"/>
          <a:lstStyle/>
          <a:p>
            <a:pPr indent="0" marL="0">
              <a:buNone/>
            </a:pPr>
            <a:r>
              <a:rPr lang="en-US" sz="1800" b="1" dirty="0">
                <a:solidFill>
                  <a:schemeClr val="tx1"/>
                </a:solidFill>
              </a:rPr>
              <a:t>Learned DVFS (FiDRL)</a:t>
            </a:r>
            <a:endParaRPr lang="en-US" sz="1800" dirty="0"/>
          </a:p>
        </p:txBody>
      </p:sp>
      <p:sp>
        <p:nvSpPr>
          <p:cNvPr id="17" name="gap text 3"/>
          <p:cNvSpPr txBox="1"/>
          <p:nvPr/>
        </p:nvSpPr>
        <p:spPr>
          <a:xfrm>
            <a:off x="1783080" y="4343400"/>
            <a:ext cx="3931920" cy="1097280"/>
          </a:xfrm>
          <a:prstGeom prst="rect">
            <a:avLst/>
          </a:prstGeom>
          <a:noFill/>
          <a:ln/>
        </p:spPr>
        <p:txBody>
          <a:bodyPr wrap="square" lIns="0" tIns="0" rIns="0" bIns="0" rtlCol="0" anchor="t"/>
          <a:lstStyle/>
          <a:p>
            <a:pPr indent="0" marL="0">
              <a:buNone/>
            </a:pPr>
            <a:r>
              <a:rPr lang="en-US" sz="1500" dirty="0">
                <a:solidFill>
                  <a:schemeClr val="tx2"/>
                </a:solidFill>
              </a:rPr>
              <a:t>Learns frequency policies but cannot trade a small quality loss for a large heat reduction.</a:t>
            </a:r>
            <a:endParaRPr lang="en-US" sz="1500" dirty="0"/>
          </a:p>
        </p:txBody>
      </p:sp>
      <p:sp>
        <p:nvSpPr>
          <p:cNvPr id="18" name="gap card 4"/>
          <p:cNvSpPr/>
          <p:nvPr/>
        </p:nvSpPr>
        <p:spPr>
          <a:xfrm>
            <a:off x="6217920" y="3566160"/>
            <a:ext cx="5394960" cy="1828800"/>
          </a:xfrm>
          <a:prstGeom prst="roundRect">
            <a:avLst>
              <a:gd name="adj" fmla="val 4000"/>
            </a:avLst>
          </a:prstGeom>
          <a:solidFill>
            <a:schemeClr val="bg2"/>
          </a:solidFill>
          <a:ln w="12700">
            <a:solidFill>
              <a:schemeClr val="bg2"/>
            </a:solidFill>
            <a:prstDash val="solid"/>
          </a:ln>
        </p:spPr>
      </p:sp>
      <p:sp>
        <p:nvSpPr>
          <p:cNvPr id="19" name="gap 4 circle"/>
          <p:cNvSpPr/>
          <p:nvPr/>
        </p:nvSpPr>
        <p:spPr>
          <a:xfrm>
            <a:off x="6537960" y="3931920"/>
            <a:ext cx="685800" cy="685800"/>
          </a:xfrm>
          <a:prstGeom prst="ellipse">
            <a:avLst/>
          </a:prstGeom>
          <a:solidFill>
            <a:schemeClr val="accent3"/>
          </a:solidFill>
          <a:ln w="12700">
            <a:solidFill>
              <a:schemeClr val="accent3"/>
            </a:solidFill>
            <a:prstDash val="solid"/>
          </a:ln>
        </p:spPr>
      </p:sp>
      <p:pic>
        <p:nvPicPr>
          <p:cNvPr id="20" name="gap 4 icon" descr="preencoded.png">    </p:cNvPr>
          <p:cNvPicPr>
            <a:picLocks noChangeAspect="1"/>
          </p:cNvPicPr>
          <p:nvPr/>
        </p:nvPicPr>
        <p:blipFill>
          <a:blip r:embed="rId4"/>
          <a:stretch>
            <a:fillRect/>
          </a:stretch>
        </p:blipFill>
        <p:spPr>
          <a:xfrm>
            <a:off x="6709410" y="4103370"/>
            <a:ext cx="342900" cy="342900"/>
          </a:xfrm>
          <a:prstGeom prst="rect">
            <a:avLst/>
          </a:prstGeom>
        </p:spPr>
      </p:pic>
      <p:sp>
        <p:nvSpPr>
          <p:cNvPr id="21" name="gap head 4"/>
          <p:cNvSpPr txBox="1"/>
          <p:nvPr/>
        </p:nvSpPr>
        <p:spPr>
          <a:xfrm>
            <a:off x="7452360" y="3886200"/>
            <a:ext cx="3931920" cy="411480"/>
          </a:xfrm>
          <a:prstGeom prst="rect">
            <a:avLst/>
          </a:prstGeom>
          <a:noFill/>
          <a:ln/>
        </p:spPr>
        <p:txBody>
          <a:bodyPr wrap="square" lIns="0" tIns="0" rIns="0" bIns="0" rtlCol="0" anchor="ctr"/>
          <a:lstStyle/>
          <a:p>
            <a:pPr indent="0" marL="0">
              <a:buNone/>
            </a:pPr>
            <a:r>
              <a:rPr lang="en-US" sz="1800" b="1" dirty="0">
                <a:solidFill>
                  <a:schemeClr val="tx1"/>
                </a:solidFill>
              </a:rPr>
              <a:t>Offloading and bandwidth systems</a:t>
            </a:r>
            <a:endParaRPr lang="en-US" sz="1800" dirty="0"/>
          </a:p>
        </p:txBody>
      </p:sp>
      <p:sp>
        <p:nvSpPr>
          <p:cNvPr id="22" name="gap text 4"/>
          <p:cNvSpPr txBox="1"/>
          <p:nvPr/>
        </p:nvSpPr>
        <p:spPr>
          <a:xfrm>
            <a:off x="7452360" y="4343400"/>
            <a:ext cx="3931920" cy="1097280"/>
          </a:xfrm>
          <a:prstGeom prst="rect">
            <a:avLst/>
          </a:prstGeom>
          <a:noFill/>
          <a:ln/>
        </p:spPr>
        <p:txBody>
          <a:bodyPr wrap="square" lIns="0" tIns="0" rIns="0" bIns="0" rtlCol="0" anchor="t"/>
          <a:lstStyle/>
          <a:p>
            <a:pPr indent="0" marL="0">
              <a:buNone/>
            </a:pPr>
            <a:r>
              <a:rPr lang="en-US" sz="1500" dirty="0">
                <a:solidFill>
                  <a:schemeClr val="tx2"/>
                </a:solidFill>
              </a:rPr>
              <a:t>Reduce bytes per token but assume the device runs at constant speed.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Four contributions</a:t>
            </a:r>
            <a:endParaRPr lang="en-US" sz="3000" dirty="0"/>
          </a:p>
        </p:txBody>
      </p:sp>
      <p:sp>
        <p:nvSpPr>
          <p:cNvPr id="3" name="row 1 circle"/>
          <p:cNvSpPr/>
          <p:nvPr/>
        </p:nvSpPr>
        <p:spPr>
          <a:xfrm>
            <a:off x="640080" y="1371600"/>
            <a:ext cx="566928" cy="566928"/>
          </a:xfrm>
          <a:prstGeom prst="ellipse">
            <a:avLst/>
          </a:prstGeom>
          <a:solidFill>
            <a:schemeClr val="accent1"/>
          </a:solidFill>
          <a:ln w="12700">
            <a:solidFill>
              <a:schemeClr val="accent1"/>
            </a:solidFill>
            <a:prstDash val="solid"/>
          </a:ln>
        </p:spPr>
      </p:sp>
      <p:pic>
        <p:nvPicPr>
          <p:cNvPr id="4" name="row 1 icon" descr="preencoded.png">    </p:cNvPr>
          <p:cNvPicPr>
            <a:picLocks noChangeAspect="1"/>
          </p:cNvPicPr>
          <p:nvPr/>
        </p:nvPicPr>
        <p:blipFill>
          <a:blip r:embed="rId1"/>
          <a:stretch>
            <a:fillRect/>
          </a:stretch>
        </p:blipFill>
        <p:spPr>
          <a:xfrm>
            <a:off x="781812" y="1513332"/>
            <a:ext cx="283464" cy="283464"/>
          </a:xfrm>
          <a:prstGeom prst="rect">
            <a:avLst/>
          </a:prstGeom>
        </p:spPr>
      </p:pic>
      <p:sp>
        <p:nvSpPr>
          <p:cNvPr id="5" name="row 1 head"/>
          <p:cNvSpPr txBox="1"/>
          <p:nvPr/>
        </p:nvSpPr>
        <p:spPr>
          <a:xfrm>
            <a:off x="1417320" y="1353312"/>
            <a:ext cx="10104120" cy="347472"/>
          </a:xfrm>
          <a:prstGeom prst="rect">
            <a:avLst/>
          </a:prstGeom>
          <a:noFill/>
          <a:ln/>
        </p:spPr>
        <p:txBody>
          <a:bodyPr wrap="square" lIns="0" tIns="0" rIns="0" bIns="0" rtlCol="0" anchor="ctr"/>
          <a:lstStyle/>
          <a:p>
            <a:pPr indent="0" marL="0">
              <a:buNone/>
            </a:pPr>
            <a:r>
              <a:rPr lang="en-US" sz="1700" b="1" dirty="0">
                <a:solidFill>
                  <a:schemeClr val="tx1"/>
                </a:solidFill>
              </a:rPr>
              <a:t>Problem formulation</a:t>
            </a:r>
            <a:endParaRPr lang="en-US" sz="1700" dirty="0"/>
          </a:p>
        </p:txBody>
      </p:sp>
      <p:sp>
        <p:nvSpPr>
          <p:cNvPr id="6" name="row 1 text"/>
          <p:cNvSpPr txBox="1"/>
          <p:nvPr/>
        </p:nvSpPr>
        <p:spPr>
          <a:xfrm>
            <a:off x="1417320" y="1700784"/>
            <a:ext cx="10104120" cy="822960"/>
          </a:xfrm>
          <a:prstGeom prst="rect">
            <a:avLst/>
          </a:prstGeom>
          <a:noFill/>
          <a:ln/>
        </p:spPr>
        <p:txBody>
          <a:bodyPr wrap="square" lIns="0" tIns="0" rIns="0" bIns="0" rtlCol="0" anchor="t"/>
          <a:lstStyle/>
          <a:p>
            <a:pPr indent="0" marL="0">
              <a:buNone/>
            </a:pPr>
            <a:r>
              <a:rPr lang="en-US" sz="1400" dirty="0">
                <a:solidFill>
                  <a:schemeClr val="tx2"/>
                </a:solidFill>
              </a:rPr>
              <a:t>Memory bound MoE decoding, per budget power, a two node die and skin RC network with a progressive OS governor, and a closed loop chat workload, posed as a constrained rolling horizon problem.</a:t>
            </a:r>
            <a:endParaRPr lang="en-US" sz="1400" dirty="0"/>
          </a:p>
        </p:txBody>
      </p:sp>
      <p:sp>
        <p:nvSpPr>
          <p:cNvPr id="7" name="row 2 circle"/>
          <p:cNvSpPr/>
          <p:nvPr/>
        </p:nvSpPr>
        <p:spPr>
          <a:xfrm>
            <a:off x="640080" y="2578608"/>
            <a:ext cx="566928" cy="566928"/>
          </a:xfrm>
          <a:prstGeom prst="ellipse">
            <a:avLst/>
          </a:prstGeom>
          <a:solidFill>
            <a:schemeClr val="accent1"/>
          </a:solidFill>
          <a:ln w="12700">
            <a:solidFill>
              <a:schemeClr val="accent1"/>
            </a:solidFill>
            <a:prstDash val="solid"/>
          </a:ln>
        </p:spPr>
      </p:sp>
      <p:pic>
        <p:nvPicPr>
          <p:cNvPr id="8" name="row 2 icon" descr="preencoded.png">    </p:cNvPr>
          <p:cNvPicPr>
            <a:picLocks noChangeAspect="1"/>
          </p:cNvPicPr>
          <p:nvPr/>
        </p:nvPicPr>
        <p:blipFill>
          <a:blip r:embed="rId2"/>
          <a:stretch>
            <a:fillRect/>
          </a:stretch>
        </p:blipFill>
        <p:spPr>
          <a:xfrm>
            <a:off x="781812" y="2720340"/>
            <a:ext cx="283464" cy="283464"/>
          </a:xfrm>
          <a:prstGeom prst="rect">
            <a:avLst/>
          </a:prstGeom>
        </p:spPr>
      </p:pic>
      <p:sp>
        <p:nvSpPr>
          <p:cNvPr id="9" name="row 2 head"/>
          <p:cNvSpPr txBox="1"/>
          <p:nvPr/>
        </p:nvSpPr>
        <p:spPr>
          <a:xfrm>
            <a:off x="1417320" y="2560320"/>
            <a:ext cx="10104120" cy="347472"/>
          </a:xfrm>
          <a:prstGeom prst="rect">
            <a:avLst/>
          </a:prstGeom>
          <a:noFill/>
          <a:ln/>
        </p:spPr>
        <p:txBody>
          <a:bodyPr wrap="square" lIns="0" tIns="0" rIns="0" bIns="0" rtlCol="0" anchor="ctr"/>
          <a:lstStyle/>
          <a:p>
            <a:pPr indent="0" marL="0">
              <a:buNone/>
            </a:pPr>
            <a:r>
              <a:rPr lang="en-US" sz="1700" b="1" dirty="0">
                <a:solidFill>
                  <a:schemeClr val="tx1"/>
                </a:solidFill>
              </a:rPr>
              <a:t>ThermoRoute controller</a:t>
            </a:r>
            <a:endParaRPr lang="en-US" sz="1700" dirty="0"/>
          </a:p>
        </p:txBody>
      </p:sp>
      <p:sp>
        <p:nvSpPr>
          <p:cNvPr id="10" name="row 2 text"/>
          <p:cNvSpPr txBox="1"/>
          <p:nvPr/>
        </p:nvSpPr>
        <p:spPr>
          <a:xfrm>
            <a:off x="1417320" y="2907792"/>
            <a:ext cx="10104120" cy="822960"/>
          </a:xfrm>
          <a:prstGeom prst="rect">
            <a:avLst/>
          </a:prstGeom>
          <a:noFill/>
          <a:ln/>
        </p:spPr>
        <p:txBody>
          <a:bodyPr wrap="square" lIns="0" tIns="0" rIns="0" bIns="0" rtlCol="0" anchor="t"/>
          <a:lstStyle/>
          <a:p>
            <a:pPr indent="0" marL="0">
              <a:buNone/>
            </a:pPr>
            <a:r>
              <a:rPr lang="en-US" sz="1400" dirty="0">
                <a:solidFill>
                  <a:schemeClr val="tx2"/>
                </a:solidFill>
              </a:rPr>
              <a:t>Filters noisy sensors, corrects model bias online, rolls every candidate forward, and adds a closed form 180 s skin lookahead. A theorem shows fewer experts never raise average power or steady skin temperature.</a:t>
            </a:r>
            <a:endParaRPr lang="en-US" sz="1400" dirty="0"/>
          </a:p>
        </p:txBody>
      </p:sp>
      <p:sp>
        <p:nvSpPr>
          <p:cNvPr id="11" name="row 3 circle"/>
          <p:cNvSpPr/>
          <p:nvPr/>
        </p:nvSpPr>
        <p:spPr>
          <a:xfrm>
            <a:off x="640080" y="3785616"/>
            <a:ext cx="566928" cy="566928"/>
          </a:xfrm>
          <a:prstGeom prst="ellipse">
            <a:avLst/>
          </a:prstGeom>
          <a:solidFill>
            <a:schemeClr val="accent1"/>
          </a:solidFill>
          <a:ln w="12700">
            <a:solidFill>
              <a:schemeClr val="accent1"/>
            </a:solidFill>
            <a:prstDash val="solid"/>
          </a:ln>
        </p:spPr>
      </p:sp>
      <p:pic>
        <p:nvPicPr>
          <p:cNvPr id="12" name="row 3 icon" descr="preencoded.png">    </p:cNvPr>
          <p:cNvPicPr>
            <a:picLocks noChangeAspect="1"/>
          </p:cNvPicPr>
          <p:nvPr/>
        </p:nvPicPr>
        <p:blipFill>
          <a:blip r:embed="rId3"/>
          <a:stretch>
            <a:fillRect/>
          </a:stretch>
        </p:blipFill>
        <p:spPr>
          <a:xfrm>
            <a:off x="781812" y="3927348"/>
            <a:ext cx="283464" cy="283464"/>
          </a:xfrm>
          <a:prstGeom prst="rect">
            <a:avLst/>
          </a:prstGeom>
        </p:spPr>
      </p:pic>
      <p:sp>
        <p:nvSpPr>
          <p:cNvPr id="13" name="row 3 head"/>
          <p:cNvSpPr txBox="1"/>
          <p:nvPr/>
        </p:nvSpPr>
        <p:spPr>
          <a:xfrm>
            <a:off x="1417320" y="3767328"/>
            <a:ext cx="10104120" cy="347472"/>
          </a:xfrm>
          <a:prstGeom prst="rect">
            <a:avLst/>
          </a:prstGeom>
          <a:noFill/>
          <a:ln/>
        </p:spPr>
        <p:txBody>
          <a:bodyPr wrap="square" lIns="0" tIns="0" rIns="0" bIns="0" rtlCol="0" anchor="ctr"/>
          <a:lstStyle/>
          <a:p>
            <a:pPr indent="0" marL="0">
              <a:buNone/>
            </a:pPr>
            <a:r>
              <a:rPr lang="en-US" sz="1700" b="1" dirty="0">
                <a:solidFill>
                  <a:schemeClr val="tx1"/>
                </a:solidFill>
              </a:rPr>
              <a:t>Measured model and workload profile</a:t>
            </a:r>
            <a:endParaRPr lang="en-US" sz="1700" dirty="0"/>
          </a:p>
        </p:txBody>
      </p:sp>
      <p:sp>
        <p:nvSpPr>
          <p:cNvPr id="14" name="row 3 text"/>
          <p:cNvSpPr txBox="1"/>
          <p:nvPr/>
        </p:nvSpPr>
        <p:spPr>
          <a:xfrm>
            <a:off x="1417320" y="4114800"/>
            <a:ext cx="10104120" cy="822960"/>
          </a:xfrm>
          <a:prstGeom prst="rect">
            <a:avLst/>
          </a:prstGeom>
          <a:noFill/>
          <a:ln/>
        </p:spPr>
        <p:txBody>
          <a:bodyPr wrap="square" lIns="0" tIns="0" rIns="0" bIns="0" rtlCol="0" anchor="t"/>
          <a:lstStyle/>
          <a:p>
            <a:pPr indent="0" marL="0">
              <a:buNone/>
            </a:pPr>
            <a:r>
              <a:rPr lang="en-US" sz="1400" dirty="0">
                <a:solidFill>
                  <a:schemeClr val="tx2"/>
                </a:solidFill>
              </a:rPr>
              <a:t>OLMoE 1B 7B perplexity for every budget, router expert union over consecutive tokens, and real request lengths from LMSYS Chat 1M.</a:t>
            </a:r>
            <a:endParaRPr lang="en-US" sz="1400" dirty="0"/>
          </a:p>
        </p:txBody>
      </p:sp>
      <p:sp>
        <p:nvSpPr>
          <p:cNvPr id="15" name="row 4 circle"/>
          <p:cNvSpPr/>
          <p:nvPr/>
        </p:nvSpPr>
        <p:spPr>
          <a:xfrm>
            <a:off x="640080" y="4992624"/>
            <a:ext cx="566928" cy="566928"/>
          </a:xfrm>
          <a:prstGeom prst="ellipse">
            <a:avLst/>
          </a:prstGeom>
          <a:solidFill>
            <a:schemeClr val="accent1"/>
          </a:solidFill>
          <a:ln w="12700">
            <a:solidFill>
              <a:schemeClr val="accent1"/>
            </a:solidFill>
            <a:prstDash val="solid"/>
          </a:ln>
        </p:spPr>
      </p:sp>
      <p:pic>
        <p:nvPicPr>
          <p:cNvPr id="16" name="row 4 icon" descr="preencoded.png">    </p:cNvPr>
          <p:cNvPicPr>
            <a:picLocks noChangeAspect="1"/>
          </p:cNvPicPr>
          <p:nvPr/>
        </p:nvPicPr>
        <p:blipFill>
          <a:blip r:embed="rId4"/>
          <a:stretch>
            <a:fillRect/>
          </a:stretch>
        </p:blipFill>
        <p:spPr>
          <a:xfrm>
            <a:off x="781812" y="5134356"/>
            <a:ext cx="283464" cy="283464"/>
          </a:xfrm>
          <a:prstGeom prst="rect">
            <a:avLst/>
          </a:prstGeom>
        </p:spPr>
      </p:pic>
      <p:sp>
        <p:nvSpPr>
          <p:cNvPr id="17" name="row 4 head"/>
          <p:cNvSpPr txBox="1"/>
          <p:nvPr/>
        </p:nvSpPr>
        <p:spPr>
          <a:xfrm>
            <a:off x="1417320" y="4974336"/>
            <a:ext cx="10104120" cy="347472"/>
          </a:xfrm>
          <a:prstGeom prst="rect">
            <a:avLst/>
          </a:prstGeom>
          <a:noFill/>
          <a:ln/>
        </p:spPr>
        <p:txBody>
          <a:bodyPr wrap="square" lIns="0" tIns="0" rIns="0" bIns="0" rtlCol="0" anchor="ctr"/>
          <a:lstStyle/>
          <a:p>
            <a:pPr indent="0" marL="0">
              <a:buNone/>
            </a:pPr>
            <a:r>
              <a:rPr lang="en-US" sz="1700" b="1" dirty="0">
                <a:solidFill>
                  <a:schemeClr val="tx1"/>
                </a:solidFill>
              </a:rPr>
              <a:t>Validation</a:t>
            </a:r>
            <a:endParaRPr lang="en-US" sz="1700" dirty="0"/>
          </a:p>
        </p:txBody>
      </p:sp>
      <p:sp>
        <p:nvSpPr>
          <p:cNvPr id="18" name="row 4 text"/>
          <p:cNvSpPr txBox="1"/>
          <p:nvPr/>
        </p:nvSpPr>
        <p:spPr>
          <a:xfrm>
            <a:off x="1417320" y="5321808"/>
            <a:ext cx="10104120" cy="822960"/>
          </a:xfrm>
          <a:prstGeom prst="rect">
            <a:avLst/>
          </a:prstGeom>
          <a:noFill/>
          <a:ln/>
        </p:spPr>
        <p:txBody>
          <a:bodyPr wrap="square" lIns="0" tIns="0" rIns="0" bIns="0" rtlCol="0" anchor="t"/>
          <a:lstStyle/>
          <a:p>
            <a:pPr indent="0" marL="0">
              <a:buNone/>
            </a:pPr>
            <a:r>
              <a:rPr lang="en-US" sz="1400" dirty="0">
                <a:solidFill>
                  <a:schemeClr val="tx2"/>
                </a:solidFill>
              </a:rPr>
              <a:t>Two SoC classes, three ambients, two workloads, and 20 test seeds, with Holm corrected Wilcoxon tests against six methods.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10881360" cy="10058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Method</a:t>
            </a:r>
            <a:endParaRPr lang="en-US" sz="4400" dirty="0"/>
          </a:p>
        </p:txBody>
      </p:sp>
      <p:sp>
        <p:nvSpPr>
          <p:cNvPr id="3" name="Text 0"/>
          <p:cNvSpPr/>
          <p:nvPr>
            <p:ph idx="101" type="body" hasCustomPrompt="1"/>
          </p:nvPr>
        </p:nvSpPr>
        <p:spPr>
          <a:xfrm>
            <a:off x="640080" y="3794760"/>
            <a:ext cx="10881360" cy="731520"/>
          </a:xfrm>
          <a:prstGeom prst="rect">
            <a:avLst/>
          </a:prstGeom>
          <a:noFill/>
          <a:ln/>
        </p:spPr>
        <p:txBody>
          <a:bodyPr wrap="square" lIns="0" tIns="0" rIns="0" bIns="0" rtlCol="0" anchor="t"/>
          <a:lstStyle/>
          <a:p>
            <a:pPr indent="0" marL="0">
              <a:buNone/>
            </a:pPr>
            <a:r>
              <a:rPr lang="en-US" sz="2000" dirty="0">
                <a:solidFill>
                  <a:schemeClr val="bg2"/>
                </a:solidFill>
              </a:rPr>
              <a:t>System model, controller design, and the key theoretical insight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Memory bound decoding meets a two node thermal plant</a:t>
            </a:r>
            <a:endParaRPr lang="en-US" sz="3000" dirty="0"/>
          </a:p>
        </p:txBody>
      </p:sp>
      <p:pic>
        <p:nvPicPr>
          <p:cNvPr id="3" name="Figure 2 system model" descr="/tmp/deck/img/pdf-001.png">    </p:cNvPr>
          <p:cNvPicPr>
            <a:picLocks noChangeAspect="1"/>
          </p:cNvPicPr>
          <p:nvPr/>
        </p:nvPicPr>
        <p:blipFill>
          <a:blip r:embed="rId1"/>
          <a:stretch>
            <a:fillRect/>
          </a:stretch>
        </p:blipFill>
        <p:spPr>
          <a:xfrm>
            <a:off x="548640" y="1371600"/>
            <a:ext cx="6675120" cy="3297984"/>
          </a:xfrm>
          <a:prstGeom prst="rect">
            <a:avLst/>
          </a:prstGeom>
        </p:spPr>
      </p:pic>
      <p:sp>
        <p:nvSpPr>
          <p:cNvPr id="4" name="figure 2 caption"/>
          <p:cNvSpPr txBox="1"/>
          <p:nvPr/>
        </p:nvSpPr>
        <p:spPr>
          <a:xfrm>
            <a:off x="548640" y="4754880"/>
            <a:ext cx="6675120" cy="640080"/>
          </a:xfrm>
          <a:prstGeom prst="rect">
            <a:avLst/>
          </a:prstGeom>
          <a:noFill/>
          <a:ln/>
        </p:spPr>
        <p:txBody>
          <a:bodyPr wrap="square" lIns="0" tIns="0" rIns="0" bIns="0" rtlCol="0" anchor="ctr"/>
          <a:lstStyle/>
          <a:p>
            <a:pPr indent="0" marL="0">
              <a:buNone/>
            </a:pPr>
            <a:r>
              <a:rPr lang="en-US" sz="1200" dirty="0">
                <a:solidFill>
                  <a:schemeClr val="accent5"/>
                </a:solidFill>
              </a:rPr>
              <a:t>Workload from LMSYS Chat 1M lengths, SoC with two clusters, MoE router with 64 experts per layer, die and skin RC network, and the OS governor.</a:t>
            </a:r>
            <a:endParaRPr lang="en-US" sz="1200" dirty="0"/>
          </a:p>
        </p:txBody>
      </p:sp>
      <p:sp>
        <p:nvSpPr>
          <p:cNvPr id="5" name="equation card"/>
          <p:cNvSpPr/>
          <p:nvPr/>
        </p:nvSpPr>
        <p:spPr>
          <a:xfrm>
            <a:off x="7589520" y="1371600"/>
            <a:ext cx="4023360" cy="4023360"/>
          </a:xfrm>
          <a:prstGeom prst="roundRect">
            <a:avLst>
              <a:gd name="adj" fmla="val 1818"/>
            </a:avLst>
          </a:prstGeom>
          <a:solidFill>
            <a:schemeClr val="bg2"/>
          </a:solidFill>
          <a:ln w="12700">
            <a:solidFill>
              <a:schemeClr val="bg2"/>
            </a:solidFill>
            <a:prstDash val="solid"/>
          </a:ln>
        </p:spPr>
      </p:sp>
      <p:sp>
        <p:nvSpPr>
          <p:cNvPr id="6" name="model equations"/>
          <p:cNvSpPr txBox="1"/>
          <p:nvPr/>
        </p:nvSpPr>
        <p:spPr>
          <a:xfrm>
            <a:off x="7863840" y="1645920"/>
            <a:ext cx="3566160" cy="3566160"/>
          </a:xfrm>
          <a:prstGeom prst="rect">
            <a:avLst/>
          </a:prstGeom>
          <a:noFill/>
          <a:ln/>
        </p:spPr>
        <p:txBody>
          <a:bodyPr wrap="square" lIns="0" tIns="0" rIns="0" bIns="0" rtlCol="0" anchor="t"/>
          <a:lstStyle/>
          <a:p>
            <a:pPr indent="0" marL="0">
              <a:buNone/>
            </a:pPr>
            <a:r>
              <a:rPr lang="en-US" sz="1600" b="1" dirty="0">
                <a:solidFill>
                  <a:schemeClr val="tx1"/>
                </a:solidFill>
              </a:rPr>
              <a:t>Bytes per token</a:t>
            </a:r>
            <a:pPr indent="0" marL="0">
              <a:spcAft>
                <a:spcPts val="800"/>
              </a:spcAft>
              <a:buNone/>
            </a:pPr>
            <a:r>
              <a:rPr lang="en-US" sz="1600" dirty="0">
                <a:solidFill>
                  <a:schemeClr val="tx2"/>
                </a:solidFill>
              </a:rPr>
              <a:t> β(k) = b (Nsh + k·Nex)</a:t>
            </a:r>
            <a:endParaRPr lang="en-US" sz="1600" dirty="0"/>
          </a:p>
          <a:p>
            <a:pPr indent="0" marL="0">
              <a:buNone/>
            </a:pPr>
            <a:r>
              <a:rPr lang="en-US" sz="1600" b="1" dirty="0">
                <a:solidFill>
                  <a:schemeClr val="tx1"/>
                </a:solidFill>
              </a:rPr>
              <a:t>Decoding rate</a:t>
            </a:r>
            <a:pPr indent="0" marL="0">
              <a:spcAft>
                <a:spcPts val="800"/>
              </a:spcAft>
              <a:buNone/>
            </a:pPr>
            <a:r>
              <a:rPr lang="en-US" sz="1600" dirty="0">
                <a:solidFill>
                  <a:schemeClr val="tx2"/>
                </a:solidFill>
              </a:rPr>
              <a:t> r(u) = B(f, c) / β(k)</a:t>
            </a:r>
            <a:endParaRPr lang="en-US" sz="1600" dirty="0"/>
          </a:p>
          <a:p>
            <a:pPr indent="0" marL="0">
              <a:buNone/>
            </a:pPr>
            <a:r>
              <a:rPr lang="en-US" sz="1600" b="1" dirty="0">
                <a:solidFill>
                  <a:schemeClr val="tx1"/>
                </a:solidFill>
              </a:rPr>
              <a:t>Active power</a:t>
            </a:r>
            <a:pPr indent="0" marL="0">
              <a:spcAft>
                <a:spcPts val="800"/>
              </a:spcAft>
              <a:buNone/>
            </a:pPr>
            <a:r>
              <a:rPr lang="en-US" sz="1600" dirty="0">
                <a:solidFill>
                  <a:schemeClr val="tx2"/>
                </a:solidFill>
              </a:rPr>
              <a:t> Pa(u) = Pidle + κc f³ + eB B(f, c)</a:t>
            </a:r>
            <a:endParaRPr lang="en-US" sz="1600" dirty="0"/>
          </a:p>
          <a:p>
            <a:pPr indent="0" marL="0">
              <a:buNone/>
            </a:pPr>
            <a:r>
              <a:rPr lang="en-US" sz="1600" b="1" dirty="0">
                <a:solidFill>
                  <a:schemeClr val="tx1"/>
                </a:solidFill>
              </a:rPr>
              <a:t>Thermal plant</a:t>
            </a:r>
            <a:pPr indent="0" marL="0">
              <a:spcAft>
                <a:spcPts val="800"/>
              </a:spcAft>
              <a:buNone/>
            </a:pPr>
            <a:r>
              <a:rPr lang="en-US" sz="1600" dirty="0">
                <a:solidFill>
                  <a:schemeClr val="tx2"/>
                </a:solidFill>
              </a:rPr>
              <a:t> die and skin temperatures follow a two node RC network, discretized every 1 s</a:t>
            </a:r>
            <a:endParaRPr lang="en-US" sz="1600" dirty="0"/>
          </a:p>
          <a:p>
            <a:pPr indent="0" marL="0">
              <a:buNone/>
            </a:pPr>
            <a:r>
              <a:rPr lang="en-US" sz="1600" b="1" dirty="0">
                <a:solidFill>
                  <a:schemeClr val="tx1"/>
                </a:solidFill>
              </a:rPr>
              <a:t>Governor</a:t>
            </a:r>
            <a:pPr indent="0" marL="0">
              <a:spcAft>
                <a:spcPts val="800"/>
              </a:spcAft>
              <a:buNone/>
            </a:pPr>
            <a:r>
              <a:rPr lang="en-US" sz="1600" dirty="0">
                <a:solidFill>
                  <a:schemeClr val="tx2"/>
                </a:solidFill>
              </a:rPr>
              <a:t> steps frequency down when the die passes 85 °C or the skin passes 43 °C</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ThermoRoute runs a four stage loop every second</a:t>
            </a:r>
            <a:endParaRPr lang="en-US" sz="3000" dirty="0"/>
          </a:p>
        </p:txBody>
      </p:sp>
      <p:pic>
        <p:nvPicPr>
          <p:cNvPr id="3" name="Figure 3 architecture" descr="/tmp/deck/img/pdf-002.png">    </p:cNvPr>
          <p:cNvPicPr>
            <a:picLocks noChangeAspect="1"/>
          </p:cNvPicPr>
          <p:nvPr/>
        </p:nvPicPr>
        <p:blipFill>
          <a:blip r:embed="rId1"/>
          <a:stretch>
            <a:fillRect/>
          </a:stretch>
        </p:blipFill>
        <p:spPr>
          <a:xfrm>
            <a:off x="548640" y="1371600"/>
            <a:ext cx="6949440" cy="3433518"/>
          </a:xfrm>
          <a:prstGeom prst="rect">
            <a:avLst/>
          </a:prstGeom>
        </p:spPr>
      </p:pic>
      <p:sp>
        <p:nvSpPr>
          <p:cNvPr id="4" name="stage 1 circle"/>
          <p:cNvSpPr/>
          <p:nvPr/>
        </p:nvSpPr>
        <p:spPr>
          <a:xfrm>
            <a:off x="7863840" y="1371600"/>
            <a:ext cx="502920" cy="502920"/>
          </a:xfrm>
          <a:prstGeom prst="ellipse">
            <a:avLst/>
          </a:prstGeom>
          <a:solidFill>
            <a:schemeClr val="accent1"/>
          </a:solidFill>
          <a:ln w="12700">
            <a:solidFill>
              <a:schemeClr val="accent1"/>
            </a:solidFill>
            <a:prstDash val="solid"/>
          </a:ln>
        </p:spPr>
      </p:sp>
      <p:sp>
        <p:nvSpPr>
          <p:cNvPr id="5" name="stage 1 number"/>
          <p:cNvSpPr txBox="1"/>
          <p:nvPr/>
        </p:nvSpPr>
        <p:spPr>
          <a:xfrm>
            <a:off x="7863840" y="13716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age 1 head"/>
          <p:cNvSpPr txBox="1"/>
          <p:nvPr/>
        </p:nvSpPr>
        <p:spPr>
          <a:xfrm>
            <a:off x="8549640" y="1344168"/>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State estimation</a:t>
            </a:r>
            <a:endParaRPr lang="en-US" sz="1600" dirty="0"/>
          </a:p>
        </p:txBody>
      </p:sp>
      <p:sp>
        <p:nvSpPr>
          <p:cNvPr id="7" name="stage 1 text"/>
          <p:cNvSpPr txBox="1"/>
          <p:nvPr/>
        </p:nvSpPr>
        <p:spPr>
          <a:xfrm>
            <a:off x="8549640" y="1673352"/>
            <a:ext cx="3108960" cy="777240"/>
          </a:xfrm>
          <a:prstGeom prst="rect">
            <a:avLst/>
          </a:prstGeom>
          <a:noFill/>
          <a:ln/>
        </p:spPr>
        <p:txBody>
          <a:bodyPr wrap="square" lIns="0" tIns="0" rIns="0" bIns="0" rtlCol="0" anchor="t"/>
          <a:lstStyle/>
          <a:p>
            <a:pPr indent="0" marL="0">
              <a:buNone/>
            </a:pPr>
            <a:r>
              <a:rPr lang="en-US" sz="1300" dirty="0">
                <a:solidFill>
                  <a:schemeClr val="tx2"/>
                </a:solidFill>
              </a:rPr>
              <a:t>First order filters on die and skin sensors and bounded online bias correction.</a:t>
            </a:r>
            <a:endParaRPr lang="en-US" sz="1300" dirty="0"/>
          </a:p>
        </p:txBody>
      </p:sp>
      <p:sp>
        <p:nvSpPr>
          <p:cNvPr id="8" name="stage 2 circle"/>
          <p:cNvSpPr/>
          <p:nvPr/>
        </p:nvSpPr>
        <p:spPr>
          <a:xfrm>
            <a:off x="7863840" y="2560320"/>
            <a:ext cx="502920" cy="502920"/>
          </a:xfrm>
          <a:prstGeom prst="ellipse">
            <a:avLst/>
          </a:prstGeom>
          <a:solidFill>
            <a:schemeClr val="accent1"/>
          </a:solidFill>
          <a:ln w="12700">
            <a:solidFill>
              <a:schemeClr val="accent1"/>
            </a:solidFill>
            <a:prstDash val="solid"/>
          </a:ln>
        </p:spPr>
      </p:sp>
      <p:sp>
        <p:nvSpPr>
          <p:cNvPr id="9" name="stage 2 number"/>
          <p:cNvSpPr txBox="1"/>
          <p:nvPr/>
        </p:nvSpPr>
        <p:spPr>
          <a:xfrm>
            <a:off x="7863840" y="25603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stage 2 head"/>
          <p:cNvSpPr txBox="1"/>
          <p:nvPr/>
        </p:nvSpPr>
        <p:spPr>
          <a:xfrm>
            <a:off x="8549640" y="2532888"/>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Thermal prediction</a:t>
            </a:r>
            <a:endParaRPr lang="en-US" sz="1600" dirty="0"/>
          </a:p>
        </p:txBody>
      </p:sp>
      <p:sp>
        <p:nvSpPr>
          <p:cNvPr id="11" name="stage 2 text"/>
          <p:cNvSpPr txBox="1"/>
          <p:nvPr/>
        </p:nvSpPr>
        <p:spPr>
          <a:xfrm>
            <a:off x="8549640" y="2862072"/>
            <a:ext cx="3108960" cy="777240"/>
          </a:xfrm>
          <a:prstGeom prst="rect">
            <a:avLst/>
          </a:prstGeom>
          <a:noFill/>
          <a:ln/>
        </p:spPr>
        <p:txBody>
          <a:bodyPr wrap="square" lIns="0" tIns="0" rIns="0" bIns="0" rtlCol="0" anchor="t"/>
          <a:lstStyle/>
          <a:p>
            <a:pPr indent="0" marL="0">
              <a:buNone/>
            </a:pPr>
            <a:r>
              <a:rPr lang="en-US" sz="1300" dirty="0">
                <a:solidFill>
                  <a:schemeClr val="tx2"/>
                </a:solidFill>
              </a:rPr>
              <a:t>Each of 48 actions is rolled over a 10 s horizon plus a 180 s closed form skin lookahead.</a:t>
            </a:r>
            <a:endParaRPr lang="en-US" sz="1300" dirty="0"/>
          </a:p>
        </p:txBody>
      </p:sp>
      <p:sp>
        <p:nvSpPr>
          <p:cNvPr id="12" name="stage 3 circle"/>
          <p:cNvSpPr/>
          <p:nvPr/>
        </p:nvSpPr>
        <p:spPr>
          <a:xfrm>
            <a:off x="7863840" y="3749040"/>
            <a:ext cx="502920" cy="502920"/>
          </a:xfrm>
          <a:prstGeom prst="ellipse">
            <a:avLst/>
          </a:prstGeom>
          <a:solidFill>
            <a:schemeClr val="accent1"/>
          </a:solidFill>
          <a:ln w="12700">
            <a:solidFill>
              <a:schemeClr val="accent1"/>
            </a:solidFill>
            <a:prstDash val="solid"/>
          </a:ln>
        </p:spPr>
      </p:sp>
      <p:sp>
        <p:nvSpPr>
          <p:cNvPr id="13" name="stage 3 number"/>
          <p:cNvSpPr txBox="1"/>
          <p:nvPr/>
        </p:nvSpPr>
        <p:spPr>
          <a:xfrm>
            <a:off x="7863840" y="3749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stage 3 head"/>
          <p:cNvSpPr txBox="1"/>
          <p:nvPr/>
        </p:nvSpPr>
        <p:spPr>
          <a:xfrm>
            <a:off x="8549640" y="3721608"/>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Cost and selection</a:t>
            </a:r>
            <a:endParaRPr lang="en-US" sz="1600" dirty="0"/>
          </a:p>
        </p:txBody>
      </p:sp>
      <p:sp>
        <p:nvSpPr>
          <p:cNvPr id="15" name="stage 3 text"/>
          <p:cNvSpPr txBox="1"/>
          <p:nvPr/>
        </p:nvSpPr>
        <p:spPr>
          <a:xfrm>
            <a:off x="8549640" y="4050792"/>
            <a:ext cx="3108960" cy="777240"/>
          </a:xfrm>
          <a:prstGeom prst="rect">
            <a:avLst/>
          </a:prstGeom>
          <a:noFill/>
          <a:ln/>
        </p:spPr>
        <p:txBody>
          <a:bodyPr wrap="square" lIns="0" tIns="0" rIns="0" bIns="0" rtlCol="0" anchor="t"/>
          <a:lstStyle/>
          <a:p>
            <a:pPr indent="0" marL="0">
              <a:buNone/>
            </a:pPr>
            <a:r>
              <a:rPr lang="en-US" sz="1300" dirty="0">
                <a:solidFill>
                  <a:schemeClr val="tx2"/>
                </a:solidFill>
              </a:rPr>
              <a:t>Quality, speed, and energy utility minus soft thermal penalties and a switching cost.</a:t>
            </a:r>
            <a:endParaRPr lang="en-US" sz="1300" dirty="0"/>
          </a:p>
        </p:txBody>
      </p:sp>
      <p:sp>
        <p:nvSpPr>
          <p:cNvPr id="16" name="stage 4 circle"/>
          <p:cNvSpPr/>
          <p:nvPr/>
        </p:nvSpPr>
        <p:spPr>
          <a:xfrm>
            <a:off x="7863840" y="4937760"/>
            <a:ext cx="502920" cy="502920"/>
          </a:xfrm>
          <a:prstGeom prst="ellipse">
            <a:avLst/>
          </a:prstGeom>
          <a:solidFill>
            <a:schemeClr val="accent1"/>
          </a:solidFill>
          <a:ln w="12700">
            <a:solidFill>
              <a:schemeClr val="accent1"/>
            </a:solidFill>
            <a:prstDash val="solid"/>
          </a:ln>
        </p:spPr>
      </p:sp>
      <p:sp>
        <p:nvSpPr>
          <p:cNvPr id="17" name="stage 4 number"/>
          <p:cNvSpPr txBox="1"/>
          <p:nvPr/>
        </p:nvSpPr>
        <p:spPr>
          <a:xfrm>
            <a:off x="7863840" y="49377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stage 4 head"/>
          <p:cNvSpPr txBox="1"/>
          <p:nvPr/>
        </p:nvSpPr>
        <p:spPr>
          <a:xfrm>
            <a:off x="8549640" y="4910328"/>
            <a:ext cx="3108960" cy="320040"/>
          </a:xfrm>
          <a:prstGeom prst="rect">
            <a:avLst/>
          </a:prstGeom>
          <a:noFill/>
          <a:ln/>
        </p:spPr>
        <p:txBody>
          <a:bodyPr wrap="square" lIns="0" tIns="0" rIns="0" bIns="0" rtlCol="0" anchor="ctr"/>
          <a:lstStyle/>
          <a:p>
            <a:pPr indent="0" marL="0">
              <a:buNone/>
            </a:pPr>
            <a:r>
              <a:rPr lang="en-US" sz="1600" b="1" dirty="0">
                <a:solidFill>
                  <a:schemeClr val="tx1"/>
                </a:solidFill>
              </a:rPr>
              <a:t>Actuation</a:t>
            </a:r>
            <a:endParaRPr lang="en-US" sz="1600" dirty="0"/>
          </a:p>
        </p:txBody>
      </p:sp>
      <p:sp>
        <p:nvSpPr>
          <p:cNvPr id="19" name="stage 4 text"/>
          <p:cNvSpPr txBox="1"/>
          <p:nvPr/>
        </p:nvSpPr>
        <p:spPr>
          <a:xfrm>
            <a:off x="8549640" y="5239512"/>
            <a:ext cx="3108960" cy="777240"/>
          </a:xfrm>
          <a:prstGeom prst="rect">
            <a:avLst/>
          </a:prstGeom>
          <a:noFill/>
          <a:ln/>
        </p:spPr>
        <p:txBody>
          <a:bodyPr wrap="square" lIns="0" tIns="0" rIns="0" bIns="0" rtlCol="0" anchor="t"/>
          <a:lstStyle/>
          <a:p>
            <a:pPr indent="0" marL="0">
              <a:buNone/>
            </a:pPr>
            <a:r>
              <a:rPr lang="en-US" sz="1300" dirty="0">
                <a:solidFill>
                  <a:schemeClr val="tx2"/>
                </a:solidFill>
              </a:rPr>
              <a:t>Router top k, DVFS level, and cluster are applied; only the first step of each plan is used.</a:t>
            </a:r>
            <a:endParaRPr lang="en-US" sz="1300" dirty="0"/>
          </a:p>
        </p:txBody>
      </p:sp>
      <p:sp>
        <p:nvSpPr>
          <p:cNvPr id="20" name="figure 3 caption"/>
          <p:cNvSpPr txBox="1"/>
          <p:nvPr/>
        </p:nvSpPr>
        <p:spPr>
          <a:xfrm>
            <a:off x="548640" y="4983480"/>
            <a:ext cx="6949440" cy="548640"/>
          </a:xfrm>
          <a:prstGeom prst="rect">
            <a:avLst/>
          </a:prstGeom>
          <a:noFill/>
          <a:ln/>
        </p:spPr>
        <p:txBody>
          <a:bodyPr wrap="square" lIns="0" tIns="0" rIns="0" bIns="0" rtlCol="0" anchor="ctr"/>
          <a:lstStyle/>
          <a:p>
            <a:pPr indent="0" marL="0">
              <a:buNone/>
            </a:pPr>
            <a:r>
              <a:rPr lang="en-US" sz="1300" dirty="0">
                <a:solidFill>
                  <a:schemeClr val="accent5"/>
                </a:solidFill>
              </a:rPr>
              <a:t>An offline profile supplies measured quality Q(k), the expert union, workload means, and tuned weights.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Every second, 48 candidate actions are scored</a:t>
            </a:r>
            <a:endParaRPr lang="en-US" sz="3000" dirty="0"/>
          </a:p>
        </p:txBody>
      </p:sp>
      <p:pic>
        <p:nvPicPr>
          <p:cNvPr id="3" name="Figure 4 rolling horizon" descr="/tmp/deck/img/pdf-003.png">    </p:cNvPr>
          <p:cNvPicPr>
            <a:picLocks noChangeAspect="1"/>
          </p:cNvPicPr>
          <p:nvPr/>
        </p:nvPicPr>
        <p:blipFill>
          <a:blip r:embed="rId1"/>
          <a:stretch>
            <a:fillRect/>
          </a:stretch>
        </p:blipFill>
        <p:spPr>
          <a:xfrm>
            <a:off x="548640" y="1325880"/>
            <a:ext cx="7315200" cy="3614229"/>
          </a:xfrm>
          <a:prstGeom prst="rect">
            <a:avLst/>
          </a:prstGeom>
        </p:spPr>
      </p:pic>
      <p:sp>
        <p:nvSpPr>
          <p:cNvPr id="4" name="cost card"/>
          <p:cNvSpPr/>
          <p:nvPr/>
        </p:nvSpPr>
        <p:spPr>
          <a:xfrm>
            <a:off x="8183880" y="1325880"/>
            <a:ext cx="3429000" cy="4480560"/>
          </a:xfrm>
          <a:prstGeom prst="roundRect">
            <a:avLst>
              <a:gd name="adj" fmla="val 2133"/>
            </a:avLst>
          </a:prstGeom>
          <a:solidFill>
            <a:schemeClr val="bg2"/>
          </a:solidFill>
          <a:ln w="12700">
            <a:solidFill>
              <a:schemeClr val="bg2"/>
            </a:solidFill>
            <a:prstDash val="solid"/>
          </a:ln>
        </p:spPr>
      </p:sp>
      <p:sp>
        <p:nvSpPr>
          <p:cNvPr id="5" name="cost head"/>
          <p:cNvSpPr txBox="1"/>
          <p:nvPr/>
        </p:nvSpPr>
        <p:spPr>
          <a:xfrm>
            <a:off x="8458200" y="1554480"/>
            <a:ext cx="2926080" cy="365760"/>
          </a:xfrm>
          <a:prstGeom prst="rect">
            <a:avLst/>
          </a:prstGeom>
          <a:noFill/>
          <a:ln/>
        </p:spPr>
        <p:txBody>
          <a:bodyPr wrap="square" lIns="0" tIns="0" rIns="0" bIns="0" rtlCol="0" anchor="ctr"/>
          <a:lstStyle/>
          <a:p>
            <a:pPr indent="0" marL="0">
              <a:buNone/>
            </a:pPr>
            <a:r>
              <a:rPr lang="en-US" sz="1800" b="1" dirty="0">
                <a:solidFill>
                  <a:schemeClr val="tx1"/>
                </a:solidFill>
              </a:rPr>
              <a:t>Total cost</a:t>
            </a:r>
            <a:endParaRPr lang="en-US" sz="1800" dirty="0"/>
          </a:p>
        </p:txBody>
      </p:sp>
      <p:sp>
        <p:nvSpPr>
          <p:cNvPr id="6" name="cost equation"/>
          <p:cNvSpPr txBox="1"/>
          <p:nvPr/>
        </p:nvSpPr>
        <p:spPr>
          <a:xfrm>
            <a:off x="8458200" y="1965960"/>
            <a:ext cx="2926080" cy="640080"/>
          </a:xfrm>
          <a:prstGeom prst="rect">
            <a:avLst/>
          </a:prstGeom>
          <a:noFill/>
          <a:ln/>
        </p:spPr>
        <p:txBody>
          <a:bodyPr wrap="square" lIns="0" tIns="0" rIns="0" bIns="0" rtlCol="0" anchor="ctr"/>
          <a:lstStyle/>
          <a:p>
            <a:pPr indent="0" marL="0">
              <a:buNone/>
            </a:pPr>
            <a:r>
              <a:rPr lang="en-US" sz="1500" b="1" dirty="0">
                <a:solidFill>
                  <a:schemeClr val="accent1"/>
                </a:solidFill>
              </a:rPr>
              <a:t>J(u) = −H ω g(u) + Jpen + Jterm + Jsw</a:t>
            </a:r>
            <a:endParaRPr lang="en-US" sz="1500" dirty="0"/>
          </a:p>
        </p:txBody>
      </p:sp>
      <p:sp>
        <p:nvSpPr>
          <p:cNvPr id="7" name="cost terms"/>
          <p:cNvSpPr txBox="1"/>
          <p:nvPr/>
        </p:nvSpPr>
        <p:spPr>
          <a:xfrm>
            <a:off x="8458200" y="2743200"/>
            <a:ext cx="2926080" cy="2926080"/>
          </a:xfrm>
          <a:prstGeom prst="rect">
            <a:avLst/>
          </a:prstGeom>
          <a:noFill/>
          <a:ln/>
        </p:spPr>
        <p:txBody>
          <a:bodyPr wrap="square" lIns="0" tIns="0" rIns="0" bIns="0" rtlCol="0" anchor="t"/>
          <a:lstStyle/>
          <a:p>
            <a:pPr indent="0" marL="0">
              <a:buNone/>
            </a:pPr>
            <a:r>
              <a:rPr lang="en-US" sz="1400" b="1" dirty="0">
                <a:solidFill>
                  <a:schemeClr val="tx1"/>
                </a:solidFill>
              </a:rPr>
              <a:t>g(u)</a:t>
            </a:r>
            <a:pPr indent="0" marL="0">
              <a:spcAft>
                <a:spcPts val="800"/>
              </a:spcAft>
              <a:buNone/>
            </a:pPr>
            <a:r>
              <a:rPr lang="en-US" sz="1400" dirty="0">
                <a:solidFill>
                  <a:schemeClr val="tx2"/>
                </a:solidFill>
              </a:rPr>
              <a:t> quality, speed up to 30 tok/s, and energy per token</a:t>
            </a:r>
            <a:endParaRPr lang="en-US" sz="1400" dirty="0"/>
          </a:p>
          <a:p>
            <a:pPr indent="0" marL="0">
              <a:buNone/>
            </a:pPr>
            <a:r>
              <a:rPr lang="en-US" sz="1400" b="1" dirty="0">
                <a:solidFill>
                  <a:schemeClr val="tx1"/>
                </a:solidFill>
              </a:rPr>
              <a:t>Jpen</a:t>
            </a:r>
            <a:pPr indent="0" marL="0">
              <a:spcAft>
                <a:spcPts val="800"/>
              </a:spcAft>
              <a:buNone/>
            </a:pPr>
            <a:r>
              <a:rPr lang="en-US" sz="1400" dirty="0">
                <a:solidFill>
                  <a:schemeClr val="tx2"/>
                </a:solidFill>
              </a:rPr>
              <a:t> squared die and skin violations over the horizon</a:t>
            </a:r>
            <a:endParaRPr lang="en-US" sz="1400" dirty="0"/>
          </a:p>
          <a:p>
            <a:pPr indent="0" marL="0">
              <a:buNone/>
            </a:pPr>
            <a:r>
              <a:rPr lang="en-US" sz="1400" b="1" dirty="0">
                <a:solidFill>
                  <a:schemeClr val="tx1"/>
                </a:solidFill>
              </a:rPr>
              <a:t>Jterm</a:t>
            </a:r>
            <a:pPr indent="0" marL="0">
              <a:spcAft>
                <a:spcPts val="800"/>
              </a:spcAft>
              <a:buNone/>
            </a:pPr>
            <a:r>
              <a:rPr lang="en-US" sz="1400" dirty="0">
                <a:solidFill>
                  <a:schemeClr val="tx2"/>
                </a:solidFill>
              </a:rPr>
              <a:t> violation of the 180 s lookahead</a:t>
            </a:r>
            <a:endParaRPr lang="en-US" sz="1400" dirty="0"/>
          </a:p>
          <a:p>
            <a:pPr indent="0" marL="0">
              <a:buNone/>
            </a:pPr>
            <a:r>
              <a:rPr lang="en-US" sz="1400" b="1" dirty="0">
                <a:solidFill>
                  <a:schemeClr val="tx1"/>
                </a:solidFill>
              </a:rPr>
              <a:t>Jsw</a:t>
            </a:r>
            <a:pPr indent="0" marL="0">
              <a:spcAft>
                <a:spcPts val="800"/>
              </a:spcAft>
              <a:buNone/>
            </a:pPr>
            <a:r>
              <a:rPr lang="en-US" sz="1400" dirty="0">
                <a:solidFill>
                  <a:schemeClr val="tx2"/>
                </a:solidFill>
              </a:rPr>
              <a:t> cost of changing the action</a:t>
            </a:r>
            <a:endParaRPr lang="en-US" sz="1400" dirty="0"/>
          </a:p>
        </p:txBody>
      </p:sp>
      <p:sp>
        <p:nvSpPr>
          <p:cNvPr id="8" name="figure 4 caption"/>
          <p:cNvSpPr txBox="1"/>
          <p:nvPr/>
        </p:nvSpPr>
        <p:spPr>
          <a:xfrm>
            <a:off x="548640" y="5074920"/>
            <a:ext cx="7315200" cy="640080"/>
          </a:xfrm>
          <a:prstGeom prst="rect">
            <a:avLst/>
          </a:prstGeom>
          <a:noFill/>
          <a:ln/>
        </p:spPr>
        <p:txBody>
          <a:bodyPr wrap="square" lIns="0" tIns="0" rIns="0" bIns="0" rtlCol="0" anchor="ctr"/>
          <a:lstStyle/>
          <a:p>
            <a:pPr indent="0" marL="0">
              <a:buNone/>
            </a:pPr>
            <a:r>
              <a:rPr lang="en-US" sz="1300" dirty="0">
                <a:solidFill>
                  <a:schemeClr val="accent5"/>
                </a:solidFill>
              </a:rPr>
              <a:t>In this example the full budget is rejected for exceeding the skin limit in the lookahead, k = 4 loses too much quality, and k = 6 at f = 0.85 wins.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insight: fewer experts cool the phone through the duty cycle</a:t>
            </a:r>
            <a:endParaRPr lang="en-US" sz="3000" dirty="0"/>
          </a:p>
        </p:txBody>
      </p:sp>
      <p:sp>
        <p:nvSpPr>
          <p:cNvPr id="3" name="theorem card"/>
          <p:cNvSpPr/>
          <p:nvPr/>
        </p:nvSpPr>
        <p:spPr>
          <a:xfrm>
            <a:off x="548640" y="1371600"/>
            <a:ext cx="6583680" cy="4480560"/>
          </a:xfrm>
          <a:prstGeom prst="roundRect">
            <a:avLst>
              <a:gd name="adj" fmla="val 1633"/>
            </a:avLst>
          </a:prstGeom>
          <a:solidFill>
            <a:schemeClr val="bg2"/>
          </a:solidFill>
          <a:ln w="12700">
            <a:solidFill>
              <a:schemeClr val="bg2"/>
            </a:solidFill>
            <a:prstDash val="solid"/>
          </a:ln>
        </p:spPr>
      </p:sp>
      <p:sp>
        <p:nvSpPr>
          <p:cNvPr id="4" name="theorem head"/>
          <p:cNvSpPr txBox="1"/>
          <p:nvPr/>
        </p:nvSpPr>
        <p:spPr>
          <a:xfrm>
            <a:off x="868680" y="1645920"/>
            <a:ext cx="5943600" cy="411480"/>
          </a:xfrm>
          <a:prstGeom prst="rect">
            <a:avLst/>
          </a:prstGeom>
          <a:noFill/>
          <a:ln/>
        </p:spPr>
        <p:txBody>
          <a:bodyPr wrap="square" lIns="0" tIns="0" rIns="0" bIns="0" rtlCol="0" anchor="ctr"/>
          <a:lstStyle/>
          <a:p>
            <a:pPr indent="0" marL="0">
              <a:buNone/>
            </a:pPr>
            <a:r>
              <a:rPr lang="en-US" sz="2000" b="1" dirty="0">
                <a:solidFill>
                  <a:schemeClr val="accent1"/>
                </a:solidFill>
              </a:rPr>
              <a:t>Theorem 1</a:t>
            </a:r>
            <a:endParaRPr lang="en-US" sz="2000" dirty="0"/>
          </a:p>
        </p:txBody>
      </p:sp>
      <p:sp>
        <p:nvSpPr>
          <p:cNvPr id="5" name="theorem text"/>
          <p:cNvSpPr txBox="1"/>
          <p:nvPr/>
        </p:nvSpPr>
        <p:spPr>
          <a:xfrm>
            <a:off x="868680" y="2148840"/>
            <a:ext cx="5943600" cy="1188720"/>
          </a:xfrm>
          <a:prstGeom prst="rect">
            <a:avLst/>
          </a:prstGeom>
          <a:noFill/>
          <a:ln/>
        </p:spPr>
        <p:txBody>
          <a:bodyPr wrap="square" lIns="0" tIns="0" rIns="0" bIns="0" rtlCol="0" anchor="t"/>
          <a:lstStyle/>
          <a:p>
            <a:pPr indent="0" marL="0">
              <a:buNone/>
            </a:pPr>
            <a:r>
              <a:rPr lang="en-US" sz="1600" dirty="0">
                <a:solidFill>
                  <a:schemeClr val="tx1"/>
                </a:solidFill>
              </a:rPr>
              <a:t>At a fixed frequency and cluster, a larger expert budget strictly lowers the decoding rate and strictly raises average power, steady state skin temperature, and energy per token.</a:t>
            </a:r>
            <a:endParaRPr lang="en-US" sz="1600" dirty="0"/>
          </a:p>
        </p:txBody>
      </p:sp>
      <p:sp>
        <p:nvSpPr>
          <p:cNvPr id="6" name="theorem interpretation"/>
          <p:cNvSpPr txBox="1"/>
          <p:nvPr/>
        </p:nvSpPr>
        <p:spPr>
          <a:xfrm>
            <a:off x="868680" y="3474720"/>
            <a:ext cx="5943600" cy="2194560"/>
          </a:xfrm>
          <a:prstGeom prst="rect">
            <a:avLst/>
          </a:prstGeom>
          <a:noFill/>
          <a:ln/>
        </p:spPr>
        <p:txBody>
          <a:bodyPr wrap="square" lIns="0" tIns="0" rIns="0" bIns="0" rtlCol="0" anchor="t"/>
          <a:lstStyle/>
          <a:p>
            <a:pPr indent="0" marL="0">
              <a:spcAft>
                <a:spcPts val="800"/>
              </a:spcAft>
              <a:buNone/>
            </a:pPr>
            <a:r>
              <a:rPr lang="en-US" sz="1500" dirty="0">
                <a:solidFill>
                  <a:schemeClr val="tx2"/>
                </a:solidFill>
              </a:rPr>
              <a:t>Lowering k finishes each response sooner and lengthens the cool idle share of each request cycle.</a:t>
            </a:r>
            <a:endParaRPr lang="en-US" sz="1500" dirty="0"/>
          </a:p>
          <a:p>
            <a:pPr indent="0" marL="0">
              <a:spcAft>
                <a:spcPts val="800"/>
              </a:spcAft>
              <a:buNone/>
            </a:pPr>
            <a:r>
              <a:rPr lang="en-US" sz="1500" dirty="0">
                <a:solidFill>
                  <a:schemeClr val="tx2"/>
                </a:solidFill>
              </a:rPr>
              <a:t>Lowering frequency cuts instantaneous power but lengthens the busy share.</a:t>
            </a:r>
            <a:endParaRPr lang="en-US" sz="1500" dirty="0"/>
          </a:p>
          <a:p>
            <a:pPr indent="0" marL="0">
              <a:spcAft>
                <a:spcPts val="800"/>
              </a:spcAft>
              <a:buNone/>
            </a:pPr>
            <a:r>
              <a:rPr lang="en-US" sz="1500" dirty="0">
                <a:solidFill>
                  <a:schemeClr val="tx2"/>
                </a:solidFill>
              </a:rPr>
              <a:t>ThermoRoute exploits both effects jointly.</a:t>
            </a:r>
            <a:endParaRPr lang="en-US" sz="1500" dirty="0"/>
          </a:p>
        </p:txBody>
      </p:sp>
      <p:sp>
        <p:nvSpPr>
          <p:cNvPr id="7" name="skin constant value"/>
          <p:cNvSpPr txBox="1"/>
          <p:nvPr/>
        </p:nvSpPr>
        <p:spPr>
          <a:xfrm>
            <a:off x="7680960" y="1463040"/>
            <a:ext cx="393192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≈300 s</a:t>
            </a:r>
            <a:endParaRPr lang="en-US" sz="4400" dirty="0"/>
          </a:p>
        </p:txBody>
      </p:sp>
      <p:sp>
        <p:nvSpPr>
          <p:cNvPr id="8" name="skin constant label"/>
          <p:cNvSpPr txBox="1"/>
          <p:nvPr/>
        </p:nvSpPr>
        <p:spPr>
          <a:xfrm>
            <a:off x="7680960" y="2377440"/>
            <a:ext cx="3931920" cy="685800"/>
          </a:xfrm>
          <a:prstGeom prst="rect">
            <a:avLst/>
          </a:prstGeom>
          <a:noFill/>
          <a:ln/>
        </p:spPr>
        <p:txBody>
          <a:bodyPr wrap="square" lIns="0" tIns="0" rIns="0" bIns="0" rtlCol="0" anchor="t"/>
          <a:lstStyle/>
          <a:p>
            <a:pPr indent="0" marL="0">
              <a:buNone/>
            </a:pPr>
            <a:r>
              <a:rPr lang="en-US" sz="1400" dirty="0">
                <a:solidFill>
                  <a:schemeClr val="tx2"/>
                </a:solidFill>
              </a:rPr>
              <a:t>skin time constant RsaCs, which reacts to decisions made minutes earlier</a:t>
            </a:r>
            <a:endParaRPr lang="en-US" sz="1400" dirty="0"/>
          </a:p>
        </p:txBody>
      </p:sp>
      <p:sp>
        <p:nvSpPr>
          <p:cNvPr id="9" name="die constant value"/>
          <p:cNvSpPr txBox="1"/>
          <p:nvPr/>
        </p:nvSpPr>
        <p:spPr>
          <a:xfrm>
            <a:off x="7680960" y="3520440"/>
            <a:ext cx="393192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≈20 s</a:t>
            </a:r>
            <a:endParaRPr lang="en-US" sz="4400" dirty="0"/>
          </a:p>
        </p:txBody>
      </p:sp>
      <p:sp>
        <p:nvSpPr>
          <p:cNvPr id="10" name="die constant label"/>
          <p:cNvSpPr txBox="1"/>
          <p:nvPr/>
        </p:nvSpPr>
        <p:spPr>
          <a:xfrm>
            <a:off x="7680960" y="4434840"/>
            <a:ext cx="3931920" cy="685800"/>
          </a:xfrm>
          <a:prstGeom prst="rect">
            <a:avLst/>
          </a:prstGeom>
          <a:noFill/>
          <a:ln/>
        </p:spPr>
        <p:txBody>
          <a:bodyPr wrap="square" lIns="0" tIns="0" rIns="0" bIns="0" rtlCol="0" anchor="t"/>
          <a:lstStyle/>
          <a:p>
            <a:pPr indent="0" marL="0">
              <a:buNone/>
            </a:pPr>
            <a:r>
              <a:rPr lang="en-US" sz="1400" dirty="0">
                <a:solidFill>
                  <a:schemeClr val="tx2"/>
                </a:solidFill>
              </a:rPr>
              <a:t>die time constant RdsCd, which a short horizon already protects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10881360" cy="10058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Experiments and results</a:t>
            </a:r>
            <a:endParaRPr lang="en-US" sz="4400" dirty="0"/>
          </a:p>
        </p:txBody>
      </p:sp>
      <p:sp>
        <p:nvSpPr>
          <p:cNvPr id="3" name="Text 0"/>
          <p:cNvSpPr/>
          <p:nvPr>
            <p:ph idx="101" type="body" hasCustomPrompt="1"/>
          </p:nvPr>
        </p:nvSpPr>
        <p:spPr>
          <a:xfrm>
            <a:off x="640080" y="3794760"/>
            <a:ext cx="10881360" cy="731520"/>
          </a:xfrm>
          <a:prstGeom prst="rect">
            <a:avLst/>
          </a:prstGeom>
          <a:noFill/>
          <a:ln/>
        </p:spPr>
        <p:txBody>
          <a:bodyPr wrap="square" lIns="0" tIns="0" rIns="0" bIns="0" rtlCol="0" anchor="t"/>
          <a:lstStyle/>
          <a:p>
            <a:pPr indent="0" marL="0">
              <a:buNone/>
            </a:pPr>
            <a:r>
              <a:rPr lang="en-US" sz="2000" dirty="0">
                <a:solidFill>
                  <a:schemeClr val="bg2"/>
                </a:solidFill>
              </a:rPr>
              <a:t>Calibrated simulation of two smartphone SoC classes with a measured model profile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Experimental setup</a:t>
            </a:r>
            <a:endParaRPr lang="en-US" sz="3000" dirty="0"/>
          </a:p>
        </p:txBody>
      </p:sp>
      <p:graphicFrame>
        <p:nvGraphicFramePr>
          <p:cNvPr id="12" name="setup 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920240"/>
                <a:gridCol w="4663440"/>
              </a:tblGrid>
              <a:tr h="457200">
                <a:tc>
                  <a:txBody>
                    <a:bodyPr/>
                    <a:lstStyle/>
                    <a:p>
                      <a:pPr indent="0" marL="0">
                        <a:buNone/>
                      </a:pPr>
                      <a:r>
                        <a:rPr lang="en-US" sz="1400" b="1" dirty="0">
                          <a:solidFill>
                            <a:schemeClr val="bg1"/>
                          </a:solidFill>
                        </a:rPr>
                        <a:t>Item</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Setting</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r>
              <a:tr h="457200">
                <a:tc>
                  <a:txBody>
                    <a:bodyPr/>
                    <a:lstStyle/>
                    <a:p>
                      <a:pPr indent="0" marL="0">
                        <a:buNone/>
                      </a:pPr>
                      <a:r>
                        <a:rPr lang="en-US" sz="1400" dirty="0">
                          <a:solidFill>
                            <a:schemeClr val="tx2"/>
                          </a:solidFill>
                        </a:rPr>
                        <a:t>Model</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OLMoE 1B 7B, 16 layers, 64 experts, top 8</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Quality data</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WikiText 103 test, 60 chunks of 1024 tokens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Workload</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LMSYS Chat 1M, 9456 request pairs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SoC A / SoC B</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67.2 / 51.2 GB/s peak bandwidth</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Ambients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25, 30, 35 °C</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Think time</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chat 3 to 12 s, agent 0.5 to 2 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Sessions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1800 s, 20 test and 20 training seeds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r h="457200">
                <a:tc>
                  <a:txBody>
                    <a:bodyPr/>
                    <a:lstStyle/>
                    <a:p>
                      <a:pPr indent="0" marL="0">
                        <a:buNone/>
                      </a:pPr>
                      <a:r>
                        <a:rPr lang="en-US" sz="1400" dirty="0">
                          <a:solidFill>
                            <a:schemeClr val="tx2"/>
                          </a:solidFill>
                        </a:rPr>
                        <a:t>Statistics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c>
                  <a:txBody>
                    <a:bodyPr/>
                    <a:lstStyle/>
                    <a:p>
                      <a:pPr indent="0" marL="0">
                        <a:buNone/>
                      </a:pPr>
                      <a:r>
                        <a:rPr lang="en-US" sz="1400" dirty="0">
                          <a:solidFill>
                            <a:schemeClr val="tx2"/>
                          </a:solidFill>
                        </a:rPr>
                        <a:t>95% t intervals, Wilcoxon with Holm</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tcPr>
                </a:tc>
              </a:tr>
            </a:tbl>
          </a:graphicData>
        </a:graphic>
      </p:graphicFrame>
      <p:sp>
        <p:nvSpPr>
          <p:cNvPr id="4" name="baselines card"/>
          <p:cNvSpPr/>
          <p:nvPr/>
        </p:nvSpPr>
        <p:spPr>
          <a:xfrm>
            <a:off x="7498080" y="1371600"/>
            <a:ext cx="4114800" cy="4526280"/>
          </a:xfrm>
          <a:prstGeom prst="roundRect">
            <a:avLst>
              <a:gd name="adj" fmla="val 1778"/>
            </a:avLst>
          </a:prstGeom>
          <a:solidFill>
            <a:schemeClr val="bg2"/>
          </a:solidFill>
          <a:ln w="12700">
            <a:solidFill>
              <a:schemeClr val="bg2"/>
            </a:solidFill>
            <a:prstDash val="solid"/>
          </a:ln>
        </p:spPr>
      </p:sp>
      <p:sp>
        <p:nvSpPr>
          <p:cNvPr id="5" name="baselines head"/>
          <p:cNvSpPr txBox="1"/>
          <p:nvPr/>
        </p:nvSpPr>
        <p:spPr>
          <a:xfrm>
            <a:off x="7772400" y="1600200"/>
            <a:ext cx="3657600" cy="365760"/>
          </a:xfrm>
          <a:prstGeom prst="rect">
            <a:avLst/>
          </a:prstGeom>
          <a:noFill/>
          <a:ln/>
        </p:spPr>
        <p:txBody>
          <a:bodyPr wrap="square" lIns="0" tIns="0" rIns="0" bIns="0" rtlCol="0" anchor="ctr"/>
          <a:lstStyle/>
          <a:p>
            <a:pPr indent="0" marL="0">
              <a:buNone/>
            </a:pPr>
            <a:r>
              <a:rPr lang="en-US" sz="1800" b="1" dirty="0">
                <a:solidFill>
                  <a:schemeClr val="tx1"/>
                </a:solidFill>
              </a:rPr>
              <a:t>Compared methods</a:t>
            </a:r>
            <a:endParaRPr lang="en-US" sz="1800" dirty="0"/>
          </a:p>
        </p:txBody>
      </p:sp>
      <p:sp>
        <p:nvSpPr>
          <p:cNvPr id="6" name="baselines list"/>
          <p:cNvSpPr txBox="1"/>
          <p:nvPr/>
        </p:nvSpPr>
        <p:spPr>
          <a:xfrm>
            <a:off x="7772400" y="2103120"/>
            <a:ext cx="3657600" cy="3657600"/>
          </a:xfrm>
          <a:prstGeom prst="rect">
            <a:avLst/>
          </a:prstGeom>
          <a:noFill/>
          <a:ln/>
        </p:spPr>
        <p:txBody>
          <a:bodyPr wrap="square" lIns="0" tIns="0" rIns="0" bIns="0" rtlCol="0" anchor="t"/>
          <a:lstStyle/>
          <a:p>
            <a:pPr indent="0" marL="0">
              <a:buNone/>
            </a:pPr>
            <a:r>
              <a:rPr lang="en-US" sz="1400" b="1" dirty="0">
                <a:solidFill>
                  <a:schemeClr val="tx1"/>
                </a:solidFill>
              </a:rPr>
              <a:t>EdgeMoE</a:t>
            </a:r>
            <a:pPr indent="0" marL="0">
              <a:spcAft>
                <a:spcPts val="800"/>
              </a:spcAft>
              <a:buNone/>
            </a:pPr>
            <a:r>
              <a:rPr lang="en-US" sz="1400" dirty="0">
                <a:solidFill>
                  <a:schemeClr val="tx2"/>
                </a:solidFill>
              </a:rPr>
              <a:t> full budget, OS governor only</a:t>
            </a:r>
            <a:endParaRPr lang="en-US" sz="1400" dirty="0"/>
          </a:p>
          <a:p>
            <a:pPr indent="0" marL="0">
              <a:buNone/>
            </a:pPr>
            <a:r>
              <a:rPr lang="en-US" sz="1400" b="1" dirty="0">
                <a:solidFill>
                  <a:schemeClr val="tx1"/>
                </a:solidFill>
              </a:rPr>
              <a:t>EdgeLLM</a:t>
            </a:r>
            <a:pPr indent="0" marL="0">
              <a:spcAft>
                <a:spcPts val="800"/>
              </a:spcAft>
              <a:buNone/>
            </a:pPr>
            <a:r>
              <a:rPr lang="en-US" sz="1400" dirty="0">
                <a:solidFill>
                  <a:schemeClr val="tx2"/>
                </a:solidFill>
              </a:rPr>
              <a:t> adds speculative decoding</a:t>
            </a:r>
            <a:endParaRPr lang="en-US" sz="1400" dirty="0"/>
          </a:p>
          <a:p>
            <a:pPr indent="0" marL="0">
              <a:buNone/>
            </a:pPr>
            <a:r>
              <a:rPr lang="en-US" sz="1400" b="1" dirty="0">
                <a:solidFill>
                  <a:schemeClr val="tx1"/>
                </a:solidFill>
              </a:rPr>
              <a:t>StaticK4</a:t>
            </a:r>
            <a:pPr indent="0" marL="0">
              <a:spcAft>
                <a:spcPts val="800"/>
              </a:spcAft>
              <a:buNone/>
            </a:pPr>
            <a:r>
              <a:rPr lang="en-US" sz="1400" dirty="0">
                <a:solidFill>
                  <a:schemeClr val="tx2"/>
                </a:solidFill>
              </a:rPr>
              <a:t> fixed k = 4</a:t>
            </a:r>
            <a:endParaRPr lang="en-US" sz="1400" dirty="0"/>
          </a:p>
          <a:p>
            <a:pPr indent="0" marL="0">
              <a:buNone/>
            </a:pPr>
            <a:r>
              <a:rPr lang="en-US" sz="1400" b="1" dirty="0">
                <a:solidFill>
                  <a:schemeClr val="tx1"/>
                </a:solidFill>
              </a:rPr>
              <a:t>ReactiveDVFS</a:t>
            </a:r>
            <a:pPr indent="0" marL="0">
              <a:spcAft>
                <a:spcPts val="800"/>
              </a:spcAft>
              <a:buNone/>
            </a:pPr>
            <a:r>
              <a:rPr lang="en-US" sz="1400" dirty="0">
                <a:solidFill>
                  <a:schemeClr val="tx2"/>
                </a:solidFill>
              </a:rPr>
              <a:t> two threshold hysteresis</a:t>
            </a:r>
            <a:endParaRPr lang="en-US" sz="1400" dirty="0"/>
          </a:p>
          <a:p>
            <a:pPr indent="0" marL="0">
              <a:buNone/>
            </a:pPr>
            <a:r>
              <a:rPr lang="en-US" sz="1400" b="1" dirty="0">
                <a:solidFill>
                  <a:schemeClr val="tx1"/>
                </a:solidFill>
              </a:rPr>
              <a:t>FiDRL</a:t>
            </a:r>
            <a:pPr indent="0" marL="0">
              <a:spcAft>
                <a:spcPts val="800"/>
              </a:spcAft>
              <a:buNone/>
            </a:pPr>
            <a:r>
              <a:rPr lang="en-US" sz="1400" dirty="0">
                <a:solidFill>
                  <a:schemeClr val="tx2"/>
                </a:solidFill>
              </a:rPr>
              <a:t> tabular Q learning DVFS</a:t>
            </a:r>
            <a:endParaRPr lang="en-US" sz="1400" dirty="0"/>
          </a:p>
          <a:p>
            <a:pPr indent="0" marL="0">
              <a:buNone/>
            </a:pPr>
            <a:r>
              <a:rPr lang="en-US" sz="1400" b="1" dirty="0">
                <a:solidFill>
                  <a:schemeClr val="tx1"/>
                </a:solidFill>
              </a:rPr>
              <a:t>ThermoRoute+Spec</a:t>
            </a:r>
            <a:pPr indent="0" marL="0">
              <a:spcAft>
                <a:spcPts val="800"/>
              </a:spcAft>
              <a:buNone/>
            </a:pPr>
            <a:r>
              <a:rPr lang="en-US" sz="1400" dirty="0">
                <a:solidFill>
                  <a:schemeClr val="tx2"/>
                </a:solidFill>
              </a:rPr>
              <a:t> with speculative decoding</a:t>
            </a:r>
            <a:endParaRPr lang="en-US" sz="1400" dirty="0"/>
          </a:p>
          <a:p>
            <a:pPr indent="0" marL="0">
              <a:buNone/>
            </a:pPr>
            <a:r>
              <a:rPr lang="en-US" sz="1400" b="1" dirty="0">
                <a:solidFill>
                  <a:schemeClr val="tx1"/>
                </a:solidFill>
              </a:rPr>
              <a:t>Oracle</a:t>
            </a:r>
            <a:pPr indent="0" marL="0">
              <a:spcAft>
                <a:spcPts val="800"/>
              </a:spcAft>
              <a:buNone/>
            </a:pPr>
            <a:r>
              <a:rPr lang="en-US" sz="1400" dirty="0">
                <a:solidFill>
                  <a:schemeClr val="tx2"/>
                </a:solidFill>
              </a:rPr>
              <a:t> true parameters, no noise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Six experts cost only 5.3% perplexity</a:t>
            </a:r>
            <a:endParaRPr lang="en-US" sz="3000" dirty="0"/>
          </a:p>
        </p:txBody>
      </p:sp>
      <p:graphicFrame>
        <p:nvGraphicFramePr>
          <p:cNvPr id="3" name="perplexity chart" descr=""/>
          <p:cNvGraphicFramePr/>
          <p:nvPr/>
        </p:nvGraphicFramePr>
        <p:xfrm>
          <a:off x="548640" y="1325880"/>
          <a:ext cx="6309360" cy="4572000"/>
        </p:xfrm>
        <a:graphic xmlns:a="http://schemas.openxmlformats.org/drawingml/2006/main">
          <a:graphicData uri="http://schemas.openxmlformats.org/drawingml/2006/chart">
            <c:chart xmlns:c="http://schemas.openxmlformats.org/drawingml/2006/chart" r:id="rId1"/>
          </a:graphicData>
        </a:graphic>
      </p:graphicFrame>
      <p:sp>
        <p:nvSpPr>
          <p:cNvPr id="4" name="bytes stat value"/>
          <p:cNvSpPr txBox="1"/>
          <p:nvPr/>
        </p:nvSpPr>
        <p:spPr>
          <a:xfrm>
            <a:off x="7315200" y="1371600"/>
            <a:ext cx="429768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−17.1%</a:t>
            </a:r>
            <a:endParaRPr lang="en-US" sz="4400" dirty="0"/>
          </a:p>
        </p:txBody>
      </p:sp>
      <p:sp>
        <p:nvSpPr>
          <p:cNvPr id="5" name="bytes stat label"/>
          <p:cNvSpPr txBox="1"/>
          <p:nvPr/>
        </p:nvSpPr>
        <p:spPr>
          <a:xfrm>
            <a:off x="7315200" y="2286000"/>
            <a:ext cx="4297680" cy="685800"/>
          </a:xfrm>
          <a:prstGeom prst="rect">
            <a:avLst/>
          </a:prstGeom>
          <a:noFill/>
          <a:ln/>
        </p:spPr>
        <p:txBody>
          <a:bodyPr wrap="square" lIns="0" tIns="0" rIns="0" bIns="0" rtlCol="0" anchor="t"/>
          <a:lstStyle/>
          <a:p>
            <a:pPr indent="0" marL="0">
              <a:buNone/>
            </a:pPr>
            <a:r>
              <a:rPr lang="en-US" sz="1400" dirty="0">
                <a:solidFill>
                  <a:schemeClr val="tx2"/>
                </a:solidFill>
              </a:rPr>
              <a:t>bytes read per token at k = 6 compared with k = 8</a:t>
            </a:r>
            <a:endParaRPr lang="en-US" sz="1400" dirty="0"/>
          </a:p>
        </p:txBody>
      </p:sp>
      <p:sp>
        <p:nvSpPr>
          <p:cNvPr id="6" name="spec stat value"/>
          <p:cNvSpPr txBox="1"/>
          <p:nvPr/>
        </p:nvSpPr>
        <p:spPr>
          <a:xfrm>
            <a:off x="7315200" y="3108960"/>
            <a:ext cx="429768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+0.6%</a:t>
            </a:r>
            <a:endParaRPr lang="en-US" sz="4400" dirty="0"/>
          </a:p>
        </p:txBody>
      </p:sp>
      <p:sp>
        <p:nvSpPr>
          <p:cNvPr id="7" name="spec stat label"/>
          <p:cNvSpPr txBox="1"/>
          <p:nvPr/>
        </p:nvSpPr>
        <p:spPr>
          <a:xfrm>
            <a:off x="7315200" y="4023360"/>
            <a:ext cx="4297680" cy="685800"/>
          </a:xfrm>
          <a:prstGeom prst="rect">
            <a:avLst/>
          </a:prstGeom>
          <a:noFill/>
          <a:ln/>
        </p:spPr>
        <p:txBody>
          <a:bodyPr wrap="square" lIns="0" tIns="0" rIns="0" bIns="0" rtlCol="0" anchor="t"/>
          <a:lstStyle/>
          <a:p>
            <a:pPr indent="0" marL="0">
              <a:buNone/>
            </a:pPr>
            <a:r>
              <a:rPr lang="en-US" sz="1400" dirty="0">
                <a:solidFill>
                  <a:schemeClr val="tx2"/>
                </a:solidFill>
              </a:rPr>
              <a:t>speculative decoding speedup at k = 8, against +16.8% at k = 2</a:t>
            </a:r>
            <a:endParaRPr lang="en-US" sz="1400" dirty="0"/>
          </a:p>
        </p:txBody>
      </p:sp>
      <p:sp>
        <p:nvSpPr>
          <p:cNvPr id="8" name="union note"/>
          <p:cNvSpPr txBox="1"/>
          <p:nvPr/>
        </p:nvSpPr>
        <p:spPr>
          <a:xfrm>
            <a:off x="7315200" y="4846320"/>
            <a:ext cx="4297680" cy="1005840"/>
          </a:xfrm>
          <a:prstGeom prst="rect">
            <a:avLst/>
          </a:prstGeom>
          <a:noFill/>
          <a:ln/>
        </p:spPr>
        <p:txBody>
          <a:bodyPr wrap="square" lIns="0" tIns="0" rIns="0" bIns="0" rtlCol="0" anchor="t"/>
          <a:lstStyle/>
          <a:p>
            <a:pPr indent="0" marL="0">
              <a:buNone/>
            </a:pPr>
            <a:r>
              <a:rPr lang="en-US" sz="1400" dirty="0">
                <a:solidFill>
                  <a:schemeClr val="tx2"/>
                </a:solidFill>
              </a:rPr>
              <a:t>Five consecutive tokens select 23.89 distinct experts per layer at k = 8, three times a plain step, so verification erodes the speculative gain.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ThermoRoute decodes steadily without a governor intervention</a:t>
            </a:r>
            <a:endParaRPr lang="en-US" sz="3000" dirty="0"/>
          </a:p>
        </p:txBody>
      </p:sp>
      <p:pic>
        <p:nvPicPr>
          <p:cNvPr id="3" name="Figure 6 dynamics" descr="/tmp/deck/img/fig_B_dynamics.png">    </p:cNvPr>
          <p:cNvPicPr>
            <a:picLocks noChangeAspect="1"/>
          </p:cNvPicPr>
          <p:nvPr/>
        </p:nvPicPr>
        <p:blipFill>
          <a:blip r:embed="rId1"/>
          <a:stretch>
            <a:fillRect/>
          </a:stretch>
        </p:blipFill>
        <p:spPr>
          <a:xfrm>
            <a:off x="548640" y="1280160"/>
            <a:ext cx="6583680" cy="4840941"/>
          </a:xfrm>
          <a:prstGeom prst="rect">
            <a:avLst/>
          </a:prstGeom>
        </p:spPr>
      </p:pic>
      <p:sp>
        <p:nvSpPr>
          <p:cNvPr id="4" name="row 1 circle"/>
          <p:cNvSpPr/>
          <p:nvPr/>
        </p:nvSpPr>
        <p:spPr>
          <a:xfrm>
            <a:off x="7498080" y="1417320"/>
            <a:ext cx="566928" cy="566928"/>
          </a:xfrm>
          <a:prstGeom prst="ellipse">
            <a:avLst/>
          </a:prstGeom>
          <a:solidFill>
            <a:schemeClr val="accent1"/>
          </a:solidFill>
          <a:ln w="12700">
            <a:solidFill>
              <a:schemeClr val="accent1"/>
            </a:solidFill>
            <a:prstDash val="solid"/>
          </a:ln>
        </p:spPr>
      </p:sp>
      <p:pic>
        <p:nvPicPr>
          <p:cNvPr id="5" name="row 1 icon" descr="preencoded.png">    </p:cNvPr>
          <p:cNvPicPr>
            <a:picLocks noChangeAspect="1"/>
          </p:cNvPicPr>
          <p:nvPr/>
        </p:nvPicPr>
        <p:blipFill>
          <a:blip r:embed="rId2"/>
          <a:stretch>
            <a:fillRect/>
          </a:stretch>
        </p:blipFill>
        <p:spPr>
          <a:xfrm>
            <a:off x="7639812" y="1559052"/>
            <a:ext cx="283464" cy="283464"/>
          </a:xfrm>
          <a:prstGeom prst="rect">
            <a:avLst/>
          </a:prstGeom>
        </p:spPr>
      </p:pic>
      <p:sp>
        <p:nvSpPr>
          <p:cNvPr id="6" name="row 1 head"/>
          <p:cNvSpPr txBox="1"/>
          <p:nvPr/>
        </p:nvSpPr>
        <p:spPr>
          <a:xfrm>
            <a:off x="8275320" y="1399032"/>
            <a:ext cx="3337560" cy="347472"/>
          </a:xfrm>
          <a:prstGeom prst="rect">
            <a:avLst/>
          </a:prstGeom>
          <a:noFill/>
          <a:ln/>
        </p:spPr>
        <p:txBody>
          <a:bodyPr wrap="square" lIns="0" tIns="0" rIns="0" bIns="0" rtlCol="0" anchor="ctr"/>
          <a:lstStyle/>
          <a:p>
            <a:pPr indent="0" marL="0">
              <a:buNone/>
            </a:pPr>
            <a:r>
              <a:rPr lang="en-US" sz="1700" b="1" dirty="0">
                <a:solidFill>
                  <a:schemeClr val="tx1"/>
                </a:solidFill>
              </a:rPr>
              <a:t>Baselines hit the limit in about 200 s</a:t>
            </a:r>
            <a:endParaRPr lang="en-US" sz="1700" dirty="0"/>
          </a:p>
        </p:txBody>
      </p:sp>
      <p:sp>
        <p:nvSpPr>
          <p:cNvPr id="7" name="row 1 text"/>
          <p:cNvSpPr txBox="1"/>
          <p:nvPr/>
        </p:nvSpPr>
        <p:spPr>
          <a:xfrm>
            <a:off x="8275320" y="1746504"/>
            <a:ext cx="3337560" cy="1124712"/>
          </a:xfrm>
          <a:prstGeom prst="rect">
            <a:avLst/>
          </a:prstGeom>
          <a:noFill/>
          <a:ln/>
        </p:spPr>
        <p:txBody>
          <a:bodyPr wrap="square" lIns="0" tIns="0" rIns="0" bIns="0" rtlCol="0" anchor="t"/>
          <a:lstStyle/>
          <a:p>
            <a:pPr indent="0" marL="0">
              <a:buNone/>
            </a:pPr>
            <a:r>
              <a:rPr lang="en-US" sz="1400" dirty="0">
                <a:solidFill>
                  <a:schemeClr val="tx2"/>
                </a:solidFill>
              </a:rPr>
              <a:t>EdgeMoE swings between 15 and 35 tok/s and StaticK4 between 22 and 55 tok/s as the governor cycles.</a:t>
            </a:r>
            <a:endParaRPr lang="en-US" sz="1400" dirty="0"/>
          </a:p>
        </p:txBody>
      </p:sp>
      <p:sp>
        <p:nvSpPr>
          <p:cNvPr id="8" name="row 2 circle"/>
          <p:cNvSpPr/>
          <p:nvPr/>
        </p:nvSpPr>
        <p:spPr>
          <a:xfrm>
            <a:off x="7498080" y="2926080"/>
            <a:ext cx="566928" cy="566928"/>
          </a:xfrm>
          <a:prstGeom prst="ellipse">
            <a:avLst/>
          </a:prstGeom>
          <a:solidFill>
            <a:schemeClr val="accent1"/>
          </a:solidFill>
          <a:ln w="12700">
            <a:solidFill>
              <a:schemeClr val="accent1"/>
            </a:solidFill>
            <a:prstDash val="solid"/>
          </a:ln>
        </p:spPr>
      </p:sp>
      <p:pic>
        <p:nvPicPr>
          <p:cNvPr id="9" name="row 2 icon" descr="preencoded.png">    </p:cNvPr>
          <p:cNvPicPr>
            <a:picLocks noChangeAspect="1"/>
          </p:cNvPicPr>
          <p:nvPr/>
        </p:nvPicPr>
        <p:blipFill>
          <a:blip r:embed="rId3"/>
          <a:stretch>
            <a:fillRect/>
          </a:stretch>
        </p:blipFill>
        <p:spPr>
          <a:xfrm>
            <a:off x="7639812" y="3067812"/>
            <a:ext cx="283464" cy="283464"/>
          </a:xfrm>
          <a:prstGeom prst="rect">
            <a:avLst/>
          </a:prstGeom>
        </p:spPr>
      </p:pic>
      <p:sp>
        <p:nvSpPr>
          <p:cNvPr id="10" name="row 2 head"/>
          <p:cNvSpPr txBox="1"/>
          <p:nvPr/>
        </p:nvSpPr>
        <p:spPr>
          <a:xfrm>
            <a:off x="8275320" y="2907792"/>
            <a:ext cx="3337560" cy="347472"/>
          </a:xfrm>
          <a:prstGeom prst="rect">
            <a:avLst/>
          </a:prstGeom>
          <a:noFill/>
          <a:ln/>
        </p:spPr>
        <p:txBody>
          <a:bodyPr wrap="square" lIns="0" tIns="0" rIns="0" bIns="0" rtlCol="0" anchor="ctr"/>
          <a:lstStyle/>
          <a:p>
            <a:pPr indent="0" marL="0">
              <a:buNone/>
            </a:pPr>
            <a:r>
              <a:rPr lang="en-US" sz="1700" b="1" dirty="0">
                <a:solidFill>
                  <a:schemeClr val="tx1"/>
                </a:solidFill>
              </a:rPr>
              <a:t>DVFS keeps the die cool but slows</a:t>
            </a:r>
            <a:endParaRPr lang="en-US" sz="1700" dirty="0"/>
          </a:p>
        </p:txBody>
      </p:sp>
      <p:sp>
        <p:nvSpPr>
          <p:cNvPr id="11" name="row 2 text"/>
          <p:cNvSpPr txBox="1"/>
          <p:nvPr/>
        </p:nvSpPr>
        <p:spPr>
          <a:xfrm>
            <a:off x="8275320" y="3255264"/>
            <a:ext cx="3337560" cy="1124712"/>
          </a:xfrm>
          <a:prstGeom prst="rect">
            <a:avLst/>
          </a:prstGeom>
          <a:noFill/>
          <a:ln/>
        </p:spPr>
        <p:txBody>
          <a:bodyPr wrap="square" lIns="0" tIns="0" rIns="0" bIns="0" rtlCol="0" anchor="t"/>
          <a:lstStyle/>
          <a:p>
            <a:pPr indent="0" marL="0">
              <a:buNone/>
            </a:pPr>
            <a:r>
              <a:rPr lang="en-US" sz="1400" dirty="0">
                <a:solidFill>
                  <a:schemeClr val="tx2"/>
                </a:solidFill>
              </a:rPr>
              <a:t>FiDRL and ReactiveDVFS collapse toward 15 tok/s for long stretches.</a:t>
            </a:r>
            <a:endParaRPr lang="en-US" sz="1400" dirty="0"/>
          </a:p>
        </p:txBody>
      </p:sp>
      <p:sp>
        <p:nvSpPr>
          <p:cNvPr id="12" name="row 3 circle"/>
          <p:cNvSpPr/>
          <p:nvPr/>
        </p:nvSpPr>
        <p:spPr>
          <a:xfrm>
            <a:off x="7498080" y="4434840"/>
            <a:ext cx="566928" cy="566928"/>
          </a:xfrm>
          <a:prstGeom prst="ellipse">
            <a:avLst/>
          </a:prstGeom>
          <a:solidFill>
            <a:schemeClr val="accent1"/>
          </a:solidFill>
          <a:ln w="12700">
            <a:solidFill>
              <a:schemeClr val="accent1"/>
            </a:solidFill>
            <a:prstDash val="solid"/>
          </a:ln>
        </p:spPr>
      </p:sp>
      <p:pic>
        <p:nvPicPr>
          <p:cNvPr id="13" name="row 3 icon" descr="preencoded.png">    </p:cNvPr>
          <p:cNvPicPr>
            <a:picLocks noChangeAspect="1"/>
          </p:cNvPicPr>
          <p:nvPr/>
        </p:nvPicPr>
        <p:blipFill>
          <a:blip r:embed="rId4"/>
          <a:stretch>
            <a:fillRect/>
          </a:stretch>
        </p:blipFill>
        <p:spPr>
          <a:xfrm>
            <a:off x="7639812" y="4576572"/>
            <a:ext cx="283464" cy="283464"/>
          </a:xfrm>
          <a:prstGeom prst="rect">
            <a:avLst/>
          </a:prstGeom>
        </p:spPr>
      </p:pic>
      <p:sp>
        <p:nvSpPr>
          <p:cNvPr id="14" name="row 3 head"/>
          <p:cNvSpPr txBox="1"/>
          <p:nvPr/>
        </p:nvSpPr>
        <p:spPr>
          <a:xfrm>
            <a:off x="8275320" y="4416552"/>
            <a:ext cx="3337560" cy="347472"/>
          </a:xfrm>
          <a:prstGeom prst="rect">
            <a:avLst/>
          </a:prstGeom>
          <a:noFill/>
          <a:ln/>
        </p:spPr>
        <p:txBody>
          <a:bodyPr wrap="square" lIns="0" tIns="0" rIns="0" bIns="0" rtlCol="0" anchor="ctr"/>
          <a:lstStyle/>
          <a:p>
            <a:pPr indent="0" marL="0">
              <a:buNone/>
            </a:pPr>
            <a:r>
              <a:rPr lang="en-US" sz="1700" b="1" dirty="0">
                <a:solidFill>
                  <a:schemeClr val="tx1"/>
                </a:solidFill>
              </a:rPr>
              <a:t>ThermoRoute settles at k = 6</a:t>
            </a:r>
            <a:endParaRPr lang="en-US" sz="1700" dirty="0"/>
          </a:p>
        </p:txBody>
      </p:sp>
      <p:sp>
        <p:nvSpPr>
          <p:cNvPr id="15" name="row 3 text"/>
          <p:cNvSpPr txBox="1"/>
          <p:nvPr/>
        </p:nvSpPr>
        <p:spPr>
          <a:xfrm>
            <a:off x="8275320" y="4764024"/>
            <a:ext cx="3337560" cy="1124712"/>
          </a:xfrm>
          <a:prstGeom prst="rect">
            <a:avLst/>
          </a:prstGeom>
          <a:noFill/>
          <a:ln/>
        </p:spPr>
        <p:txBody>
          <a:bodyPr wrap="square" lIns="0" tIns="0" rIns="0" bIns="0" rtlCol="0" anchor="t"/>
          <a:lstStyle/>
          <a:p>
            <a:pPr indent="0" marL="0">
              <a:buNone/>
            </a:pPr>
            <a:r>
              <a:rPr lang="en-US" sz="1400" dirty="0">
                <a:solidFill>
                  <a:schemeClr val="tx2"/>
                </a:solidFill>
              </a:rPr>
              <a:t>It approaches the skin limit from below, keeps the die near 50 °C, and decodes at 25 to 33 tok/s.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At 35 °C ThermoRoute removes more than 92% of throttling</a:t>
            </a:r>
            <a:endParaRPr lang="en-US" sz="3000" dirty="0"/>
          </a:p>
        </p:txBody>
      </p:sp>
      <p:graphicFrame>
        <p:nvGraphicFramePr>
          <p:cNvPr id="3" name="throttle chart" descr=""/>
          <p:cNvGraphicFramePr/>
          <p:nvPr/>
        </p:nvGraphicFramePr>
        <p:xfrm>
          <a:off x="548640" y="13258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edge stat value"/>
          <p:cNvSpPr txBox="1"/>
          <p:nvPr/>
        </p:nvSpPr>
        <p:spPr>
          <a:xfrm>
            <a:off x="7772400" y="1371600"/>
            <a:ext cx="384048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95.4%</a:t>
            </a:r>
            <a:endParaRPr lang="en-US" sz="4400" dirty="0"/>
          </a:p>
        </p:txBody>
      </p:sp>
      <p:sp>
        <p:nvSpPr>
          <p:cNvPr id="5" name="edge stat label"/>
          <p:cNvSpPr txBox="1"/>
          <p:nvPr/>
        </p:nvSpPr>
        <p:spPr>
          <a:xfrm>
            <a:off x="7772400" y="2286000"/>
            <a:ext cx="3840480" cy="685800"/>
          </a:xfrm>
          <a:prstGeom prst="rect">
            <a:avLst/>
          </a:prstGeom>
          <a:noFill/>
          <a:ln/>
        </p:spPr>
        <p:txBody>
          <a:bodyPr wrap="square" lIns="0" tIns="0" rIns="0" bIns="0" rtlCol="0" anchor="t"/>
          <a:lstStyle/>
          <a:p>
            <a:pPr indent="0" marL="0">
              <a:buNone/>
            </a:pPr>
            <a:r>
              <a:rPr lang="en-US" sz="1400" dirty="0">
                <a:solidFill>
                  <a:schemeClr val="tx2"/>
                </a:solidFill>
              </a:rPr>
              <a:t>less throttling than EdgeMoE (63.0 s against 1358.1 s)</a:t>
            </a:r>
            <a:endParaRPr lang="en-US" sz="1400" dirty="0"/>
          </a:p>
        </p:txBody>
      </p:sp>
      <p:sp>
        <p:nvSpPr>
          <p:cNvPr id="6" name="reactive stat value"/>
          <p:cNvSpPr txBox="1"/>
          <p:nvPr/>
        </p:nvSpPr>
        <p:spPr>
          <a:xfrm>
            <a:off x="7772400" y="3108960"/>
            <a:ext cx="384048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p = 0.69</a:t>
            </a:r>
            <a:endParaRPr lang="en-US" sz="4400" dirty="0"/>
          </a:p>
        </p:txBody>
      </p:sp>
      <p:sp>
        <p:nvSpPr>
          <p:cNvPr id="7" name="reactive stat label"/>
          <p:cNvSpPr txBox="1"/>
          <p:nvPr/>
        </p:nvSpPr>
        <p:spPr>
          <a:xfrm>
            <a:off x="7772400" y="4023360"/>
            <a:ext cx="3840480" cy="685800"/>
          </a:xfrm>
          <a:prstGeom prst="rect">
            <a:avLst/>
          </a:prstGeom>
          <a:noFill/>
          <a:ln/>
        </p:spPr>
        <p:txBody>
          <a:bodyPr wrap="square" lIns="0" tIns="0" rIns="0" bIns="0" rtlCol="0" anchor="t"/>
          <a:lstStyle/>
          <a:p>
            <a:pPr indent="0" marL="0">
              <a:buNone/>
            </a:pPr>
            <a:r>
              <a:rPr lang="en-US" sz="1400" dirty="0">
                <a:solidFill>
                  <a:schemeClr val="tx2"/>
                </a:solidFill>
              </a:rPr>
              <a:t>ReactiveDVFS throttles as little, but it slows every response</a:t>
            </a:r>
            <a:endParaRPr lang="en-US" sz="1400" dirty="0"/>
          </a:p>
        </p:txBody>
      </p:sp>
      <p:sp>
        <p:nvSpPr>
          <p:cNvPr id="8" name="reduction note"/>
          <p:cNvSpPr txBox="1"/>
          <p:nvPr/>
        </p:nvSpPr>
        <p:spPr>
          <a:xfrm>
            <a:off x="7772400" y="4846320"/>
            <a:ext cx="3840480" cy="822960"/>
          </a:xfrm>
          <a:prstGeom prst="rect">
            <a:avLst/>
          </a:prstGeom>
          <a:noFill/>
          <a:ln/>
        </p:spPr>
        <p:txBody>
          <a:bodyPr wrap="square" lIns="0" tIns="0" rIns="0" bIns="0" rtlCol="0" anchor="t"/>
          <a:lstStyle/>
          <a:p>
            <a:pPr indent="0" marL="0">
              <a:buNone/>
            </a:pPr>
            <a:r>
              <a:rPr lang="en-US" sz="1400" dirty="0">
                <a:solidFill>
                  <a:schemeClr val="tx2"/>
                </a:solidFill>
              </a:rPr>
              <a:t>Reductions: 95.5% against EdgeLLM, 92.6% against FiDRL, 95.2% against StaticK4.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Full comparison: SoC A, agent workload, 35 °C</a:t>
            </a:r>
            <a:endParaRPr lang="en-US" sz="3000" dirty="0"/>
          </a:p>
        </p:txBody>
      </p:sp>
      <p:graphicFrame>
        <p:nvGraphicFramePr>
          <p:cNvPr id="16" name="result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gridCol w="1325880"/>
                <a:gridCol w="1143000"/>
                <a:gridCol w="1463040"/>
                <a:gridCol w="1554480"/>
                <a:gridCol w="1645920"/>
                <a:gridCol w="1645920"/>
              </a:tblGrid>
              <a:tr h="457200">
                <a:tc>
                  <a:txBody>
                    <a:bodyPr/>
                    <a:lstStyle/>
                    <a:p>
                      <a:pPr algn="ctr" indent="0" marL="0">
                        <a:buNone/>
                      </a:pPr>
                      <a:r>
                        <a:rPr lang="en-US" sz="1400" b="1" dirty="0">
                          <a:solidFill>
                            <a:schemeClr val="bg1"/>
                          </a:solidFill>
                        </a:rPr>
                        <a:t>Method</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Throttle (s)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PPL eff</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p95 latency (s)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SLO violation (%)</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Energy per token (J)</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bg1"/>
                          </a:solidFill>
                        </a:rPr>
                        <a:t>Tokens per charge (10³)</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chemeClr val="tx1"/>
                    </a:solidFill>
                  </a:tcPr>
                </a:tc>
              </a:tr>
              <a:tr h="457200">
                <a:tc>
                  <a:txBody>
                    <a:bodyPr/>
                    <a:lstStyle/>
                    <a:p>
                      <a:pPr algn="l" indent="0" marL="0">
                        <a:buNone/>
                      </a:pPr>
                      <a:r>
                        <a:rPr lang="en-US" sz="1400" dirty="0">
                          <a:solidFill>
                            <a:schemeClr val="tx2"/>
                          </a:solidFill>
                        </a:rPr>
                        <a:t>EdgeMoE</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1358.1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8.93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28.80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54.5</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0.1436</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482.8</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chemeClr val="tx2"/>
                          </a:solidFill>
                        </a:rPr>
                        <a:t>EdgeLLM</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1413.6</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8.93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29.46</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58.5</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0.1483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467.7</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chemeClr val="tx2"/>
                          </a:solidFill>
                        </a:rPr>
                        <a:t>ReactiveDVFS</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9.4</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8.93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28.50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57.5</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0.1251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554.3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chemeClr val="tx2"/>
                          </a:solidFill>
                        </a:rPr>
                        <a:t>FiDRL</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849.4</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8.93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26.20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34.9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0.1318</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526.1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chemeClr val="tx2"/>
                          </a:solidFill>
                        </a:rPr>
                        <a:t>StaticK4</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1299.2</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11.53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19.09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0.0978</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708.9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chemeClr val="accent1"/>
                          </a:solidFill>
                        </a:rPr>
                        <a:t>ThermoRoute</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63.0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9.40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17.99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2.1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0.0969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c>
                  <a:txBody>
                    <a:bodyPr/>
                    <a:lstStyle/>
                    <a:p>
                      <a:pPr algn="ctr" indent="0" marL="0">
                        <a:buNone/>
                      </a:pPr>
                      <a:r>
                        <a:rPr lang="en-US" sz="1400" b="1" dirty="0">
                          <a:solidFill>
                            <a:schemeClr val="accent1"/>
                          </a:solidFill>
                        </a:rPr>
                        <a:t>715.5</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CE9E3"/>
                    </a:solidFill>
                  </a:tcPr>
                </a:tc>
              </a:tr>
              <a:tr h="457200">
                <a:tc>
                  <a:txBody>
                    <a:bodyPr/>
                    <a:lstStyle/>
                    <a:p>
                      <a:pPr algn="l" indent="0" marL="0">
                        <a:buNone/>
                      </a:pPr>
                      <a:r>
                        <a:rPr lang="en-US" sz="1400" dirty="0">
                          <a:solidFill>
                            <a:schemeClr val="tx2"/>
                          </a:solidFill>
                        </a:rPr>
                        <a:t>ThermoRoute+Spec</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90.1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9.40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18.23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3.3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0.0981</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706.3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chemeClr val="tx2"/>
                          </a:solidFill>
                        </a:rPr>
                        <a:t>Oracle</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102.3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9.40</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17.89</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3.3</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0.0975</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2"/>
                          </a:solidFill>
                        </a:rPr>
                        <a:t>710.8</a:t>
                      </a:r>
                      <a:endParaRPr lang="en-US" sz="1400" dirty="0"/>
                    </a:p>
                  </a:txBody>
                  <a:tcPr marL="91440" marR="91440" marT="45720" marB="45720" anchor="ctr">
                    <a:lnL w="6350" cap="flat" cmpd="sng" algn="ctr">
                      <a:solidFill>
                        <a:srgbClr val="D9DEE4"/>
                      </a:solidFill>
                      <a:prstDash val="solid"/>
                      <a:round/>
                      <a:headEnd type="none" w="med" len="med"/>
                      <a:tailEnd type="none" w="med" len="med"/>
                    </a:lnL>
                    <a:lnR w="6350" cap="flat" cmpd="sng" algn="ctr">
                      <a:solidFill>
                        <a:srgbClr val="D9DEE4"/>
                      </a:solidFill>
                      <a:prstDash val="solid"/>
                      <a:round/>
                      <a:headEnd type="none" w="med" len="med"/>
                      <a:tailEnd type="none" w="med" len="med"/>
                    </a:lnR>
                    <a:lnT w="6350" cap="flat" cmpd="sng" algn="ctr">
                      <a:solidFill>
                        <a:srgbClr val="D9DEE4"/>
                      </a:solidFill>
                      <a:prstDash val="solid"/>
                      <a:round/>
                      <a:headEnd type="none" w="med" len="med"/>
                      <a:tailEnd type="none" w="med" len="med"/>
                    </a:lnT>
                    <a:lnB w="6350" cap="flat" cmpd="sng" algn="ctr">
                      <a:solidFill>
                        <a:srgbClr val="D9DEE4"/>
                      </a:solidFill>
                      <a:prstDash val="solid"/>
                      <a:round/>
                      <a:headEnd type="none" w="med" len="med"/>
                      <a:tailEnd type="none" w="med" len="med"/>
                    </a:lnB>
                    <a:solidFill>
                      <a:srgbClr val="FFFFFF"/>
                    </a:solidFill>
                  </a:tcPr>
                </a:tc>
              </a:tr>
            </a:tbl>
          </a:graphicData>
        </a:graphic>
      </p:graphicFrame>
      <p:sp>
        <p:nvSpPr>
          <p:cNvPr id="4" name="table takeaway"/>
          <p:cNvSpPr txBox="1"/>
          <p:nvPr/>
        </p:nvSpPr>
        <p:spPr>
          <a:xfrm>
            <a:off x="548640" y="5623560"/>
            <a:ext cx="11064240" cy="594360"/>
          </a:xfrm>
          <a:prstGeom prst="rect">
            <a:avLst/>
          </a:prstGeom>
          <a:noFill/>
          <a:ln/>
        </p:spPr>
        <p:txBody>
          <a:bodyPr wrap="square" lIns="0" tIns="0" rIns="0" bIns="0" rtlCol="0" anchor="ctr"/>
          <a:lstStyle/>
          <a:p>
            <a:pPr indent="0" marL="0">
              <a:buNone/>
            </a:pPr>
            <a:r>
              <a:rPr lang="en-US" sz="1400" dirty="0">
                <a:solidFill>
                  <a:schemeClr val="tx1"/>
                </a:solidFill>
              </a:rPr>
              <a:t>ThermoRoute lowers p95 latency by 37% and energy per token by 22% against ReactiveDVFS, and delivers 29.1% to 53.0% more tokens per charge than the thermally unaware and DVFS baselines.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ThermoRoute sits in the efficient corner of quality and energy</a:t>
            </a:r>
            <a:endParaRPr lang="en-US" sz="3000" dirty="0"/>
          </a:p>
        </p:txBody>
      </p:sp>
      <p:pic>
        <p:nvPicPr>
          <p:cNvPr id="3" name="Figure 7 pareto" descr="/tmp/deck/img/fig_C_pareto.png">    </p:cNvPr>
          <p:cNvPicPr>
            <a:picLocks noChangeAspect="1"/>
          </p:cNvPicPr>
          <p:nvPr/>
        </p:nvPicPr>
        <p:blipFill>
          <a:blip r:embed="rId1"/>
          <a:stretch>
            <a:fillRect/>
          </a:stretch>
        </p:blipFill>
        <p:spPr>
          <a:xfrm>
            <a:off x="548640" y="1280160"/>
            <a:ext cx="6400800" cy="2370667"/>
          </a:xfrm>
          <a:prstGeom prst="rect">
            <a:avLst/>
          </a:prstGeom>
        </p:spPr>
      </p:pic>
      <p:pic>
        <p:nvPicPr>
          <p:cNvPr id="4" name="Figure 8 latency CDF" descr="/tmp/deck/img/fig_D_latency_cdf.png">    </p:cNvPr>
          <p:cNvPicPr>
            <a:picLocks noChangeAspect="1"/>
          </p:cNvPicPr>
          <p:nvPr/>
        </p:nvPicPr>
        <p:blipFill>
          <a:blip r:embed="rId2"/>
          <a:stretch>
            <a:fillRect/>
          </a:stretch>
        </p:blipFill>
        <p:spPr>
          <a:xfrm>
            <a:off x="548640" y="3794760"/>
            <a:ext cx="6400800" cy="2269787"/>
          </a:xfrm>
          <a:prstGeom prst="rect">
            <a:avLst/>
          </a:prstGeom>
        </p:spPr>
      </p:pic>
      <p:sp>
        <p:nvSpPr>
          <p:cNvPr id="5" name="pareto text"/>
          <p:cNvSpPr txBox="1"/>
          <p:nvPr/>
        </p:nvSpPr>
        <p:spPr>
          <a:xfrm>
            <a:off x="7315200" y="1371600"/>
            <a:ext cx="4297680" cy="2194560"/>
          </a:xfrm>
          <a:prstGeom prst="rect">
            <a:avLst/>
          </a:prstGeom>
          <a:noFill/>
          <a:ln/>
        </p:spPr>
        <p:txBody>
          <a:bodyPr wrap="square" lIns="0" tIns="0" rIns="0" bIns="0" rtlCol="0" anchor="t"/>
          <a:lstStyle/>
          <a:p>
            <a:pPr indent="0" marL="0">
              <a:buNone/>
            </a:pPr>
            <a:r>
              <a:rPr lang="en-US" sz="1400" b="1" dirty="0">
                <a:solidFill>
                  <a:schemeClr val="tx1"/>
                </a:solidFill>
              </a:rPr>
              <a:t>Energy versus perplexity. </a:t>
            </a:r>
            <a:pPr indent="0" marL="0">
              <a:buNone/>
            </a:pPr>
            <a:r>
              <a:rPr lang="en-US" sz="1400" dirty="0">
                <a:solidFill>
                  <a:schemeClr val="tx2"/>
                </a:solidFill>
              </a:rPr>
              <a:t>Full budget methods have the lowest perplexity but the highest energy; StaticK4 saves energy only at a 29% perplexity penalty. ThermoRoute, ThermoRoute+Spec, and the Oracle form the efficient corner at 25 °C (a) and 35 °C (b).</a:t>
            </a:r>
            <a:endParaRPr lang="en-US" sz="1400" dirty="0"/>
          </a:p>
        </p:txBody>
      </p:sp>
      <p:sp>
        <p:nvSpPr>
          <p:cNvPr id="6" name="cdf text"/>
          <p:cNvSpPr txBox="1"/>
          <p:nvPr/>
        </p:nvSpPr>
        <p:spPr>
          <a:xfrm>
            <a:off x="7315200" y="3886200"/>
            <a:ext cx="4297680" cy="2011680"/>
          </a:xfrm>
          <a:prstGeom prst="rect">
            <a:avLst/>
          </a:prstGeom>
          <a:noFill/>
          <a:ln/>
        </p:spPr>
        <p:txBody>
          <a:bodyPr wrap="square" lIns="0" tIns="0" rIns="0" bIns="0" rtlCol="0" anchor="t"/>
          <a:lstStyle/>
          <a:p>
            <a:pPr indent="0" marL="0">
              <a:buNone/>
            </a:pPr>
            <a:r>
              <a:rPr lang="en-US" sz="1400" b="1" dirty="0">
                <a:solidFill>
                  <a:schemeClr val="tx1"/>
                </a:solidFill>
              </a:rPr>
              <a:t>Latency distribution. </a:t>
            </a:r>
            <a:pPr indent="0" marL="0">
              <a:buNone/>
            </a:pPr>
            <a:r>
              <a:rPr lang="en-US" sz="1400" dirty="0">
                <a:solidFill>
                  <a:schemeClr val="tx2"/>
                </a:solidFill>
              </a:rPr>
              <a:t>At 35 °C ThermoRoute shifts the upper tail to the left, while the throttled baselines extend toward much longer responses.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Gains hold across ambient, SoC class, and workload</a:t>
            </a:r>
            <a:endParaRPr lang="en-US" sz="3000" dirty="0"/>
          </a:p>
        </p:txBody>
      </p:sp>
      <p:pic>
        <p:nvPicPr>
          <p:cNvPr id="3" name="Figure 9 ambient" descr="/tmp/deck/img/fig_G_ambient.png">    </p:cNvPr>
          <p:cNvPicPr>
            <a:picLocks noChangeAspect="1"/>
          </p:cNvPicPr>
          <p:nvPr/>
        </p:nvPicPr>
        <p:blipFill>
          <a:blip r:embed="rId1"/>
          <a:stretch>
            <a:fillRect/>
          </a:stretch>
        </p:blipFill>
        <p:spPr>
          <a:xfrm>
            <a:off x="548640" y="1280160"/>
            <a:ext cx="7589520" cy="4216400"/>
          </a:xfrm>
          <a:prstGeom prst="rect">
            <a:avLst/>
          </a:prstGeom>
        </p:spPr>
      </p:pic>
      <p:sp>
        <p:nvSpPr>
          <p:cNvPr id="4" name="zero stat value"/>
          <p:cNvSpPr txBox="1"/>
          <p:nvPr/>
        </p:nvSpPr>
        <p:spPr>
          <a:xfrm>
            <a:off x="8503920" y="1371600"/>
            <a:ext cx="310896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9 of 12</a:t>
            </a:r>
            <a:endParaRPr lang="en-US" sz="4400" dirty="0"/>
          </a:p>
        </p:txBody>
      </p:sp>
      <p:sp>
        <p:nvSpPr>
          <p:cNvPr id="5" name="zero stat label"/>
          <p:cNvSpPr txBox="1"/>
          <p:nvPr/>
        </p:nvSpPr>
        <p:spPr>
          <a:xfrm>
            <a:off x="8503920" y="2286000"/>
            <a:ext cx="3108960" cy="685800"/>
          </a:xfrm>
          <a:prstGeom prst="rect">
            <a:avLst/>
          </a:prstGeom>
          <a:noFill/>
          <a:ln/>
        </p:spPr>
        <p:txBody>
          <a:bodyPr wrap="square" lIns="0" tIns="0" rIns="0" bIns="0" rtlCol="0" anchor="t"/>
          <a:lstStyle/>
          <a:p>
            <a:pPr indent="0" marL="0">
              <a:buNone/>
            </a:pPr>
            <a:r>
              <a:rPr lang="en-US" sz="1400" dirty="0">
                <a:solidFill>
                  <a:schemeClr val="tx2"/>
                </a:solidFill>
              </a:rPr>
              <a:t>conditions with zero ThermoRoute throttling</a:t>
            </a:r>
            <a:endParaRPr lang="en-US" sz="1400" dirty="0"/>
          </a:p>
        </p:txBody>
      </p:sp>
      <p:sp>
        <p:nvSpPr>
          <p:cNvPr id="6" name="ppl stat value"/>
          <p:cNvSpPr txBox="1"/>
          <p:nvPr/>
        </p:nvSpPr>
        <p:spPr>
          <a:xfrm>
            <a:off x="8503920" y="3108960"/>
            <a:ext cx="310896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≈5%</a:t>
            </a:r>
            <a:endParaRPr lang="en-US" sz="4400" dirty="0"/>
          </a:p>
        </p:txBody>
      </p:sp>
      <p:sp>
        <p:nvSpPr>
          <p:cNvPr id="7" name="ppl stat label"/>
          <p:cNvSpPr txBox="1"/>
          <p:nvPr/>
        </p:nvSpPr>
        <p:spPr>
          <a:xfrm>
            <a:off x="8503920" y="4023360"/>
            <a:ext cx="3108960" cy="685800"/>
          </a:xfrm>
          <a:prstGeom prst="rect">
            <a:avLst/>
          </a:prstGeom>
          <a:noFill/>
          <a:ln/>
        </p:spPr>
        <p:txBody>
          <a:bodyPr wrap="square" lIns="0" tIns="0" rIns="0" bIns="0" rtlCol="0" anchor="t"/>
          <a:lstStyle/>
          <a:p>
            <a:pPr indent="0" marL="0">
              <a:buNone/>
            </a:pPr>
            <a:r>
              <a:rPr lang="en-US" sz="1400" dirty="0">
                <a:solidFill>
                  <a:schemeClr val="tx2"/>
                </a:solidFill>
              </a:rPr>
              <a:t>perplexity increase in every condition</a:t>
            </a:r>
            <a:endParaRPr lang="en-US" sz="1400" dirty="0"/>
          </a:p>
        </p:txBody>
      </p:sp>
      <p:sp>
        <p:nvSpPr>
          <p:cNvPr id="8" name="limits note"/>
          <p:cNvSpPr txBox="1"/>
          <p:nvPr/>
        </p:nvSpPr>
        <p:spPr>
          <a:xfrm>
            <a:off x="8503920" y="4754880"/>
            <a:ext cx="3108960" cy="1371600"/>
          </a:xfrm>
          <a:prstGeom prst="rect">
            <a:avLst/>
          </a:prstGeom>
          <a:noFill/>
          <a:ln/>
        </p:spPr>
        <p:txBody>
          <a:bodyPr wrap="square" lIns="0" tIns="0" rIns="0" bIns="0" rtlCol="0" anchor="t"/>
          <a:lstStyle/>
          <a:p>
            <a:pPr indent="0" marL="0">
              <a:buNone/>
            </a:pPr>
            <a:r>
              <a:rPr lang="en-US" sz="1300" dirty="0">
                <a:solidFill>
                  <a:schemeClr val="tx2"/>
                </a:solidFill>
              </a:rPr>
              <a:t>Limits: on SoC B chat at 35 °C ReactiveDVFS avoids throttling entirely, and on SoC B StaticK4 matches or slightly undercuts ThermoRoute in energy.</a:t>
            </a:r>
            <a:endParaRPr lang="en-US" sz="1300" dirty="0"/>
          </a:p>
        </p:txBody>
      </p:sp>
      <p:sp>
        <p:nvSpPr>
          <p:cNvPr id="9" name="figure 9 caption"/>
          <p:cNvSpPr txBox="1"/>
          <p:nvPr/>
        </p:nvSpPr>
        <p:spPr>
          <a:xfrm>
            <a:off x="548640" y="5623560"/>
            <a:ext cx="7589520" cy="365760"/>
          </a:xfrm>
          <a:prstGeom prst="rect">
            <a:avLst/>
          </a:prstGeom>
          <a:noFill/>
          <a:ln/>
        </p:spPr>
        <p:txBody>
          <a:bodyPr wrap="square" lIns="0" tIns="0" rIns="0" bIns="0" rtlCol="0" anchor="ctr"/>
          <a:lstStyle/>
          <a:p>
            <a:pPr indent="0" marL="0">
              <a:buNone/>
            </a:pPr>
            <a:r>
              <a:rPr lang="en-US" sz="1200" dirty="0">
                <a:solidFill>
                  <a:schemeClr val="accent5"/>
                </a:solidFill>
              </a:rPr>
              <a:t>Top row SoC A, bottom row SoC B: throttling time, perplexity increase, energy per token.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Six experts dominate, and the skin margin matters most</a:t>
            </a:r>
            <a:endParaRPr lang="en-US" sz="3000" dirty="0"/>
          </a:p>
        </p:txBody>
      </p:sp>
      <p:pic>
        <p:nvPicPr>
          <p:cNvPr id="3" name="Figure 10 occupancy" descr="/tmp/deck/img/fig_H_k_occupancy.png">    </p:cNvPr>
          <p:cNvPicPr>
            <a:picLocks noChangeAspect="1"/>
          </p:cNvPicPr>
          <p:nvPr/>
        </p:nvPicPr>
        <p:blipFill>
          <a:blip r:embed="rId1"/>
          <a:stretch>
            <a:fillRect/>
          </a:stretch>
        </p:blipFill>
        <p:spPr>
          <a:xfrm>
            <a:off x="548640" y="1325880"/>
            <a:ext cx="4754880" cy="3212757"/>
          </a:xfrm>
          <a:prstGeom prst="rect">
            <a:avLst/>
          </a:prstGeom>
        </p:spPr>
      </p:pic>
      <p:sp>
        <p:nvSpPr>
          <p:cNvPr id="4" name="occupancy text"/>
          <p:cNvSpPr txBox="1"/>
          <p:nvPr/>
        </p:nvSpPr>
        <p:spPr>
          <a:xfrm>
            <a:off x="548640" y="4663440"/>
            <a:ext cx="4754880" cy="914400"/>
          </a:xfrm>
          <a:prstGeom prst="rect">
            <a:avLst/>
          </a:prstGeom>
          <a:noFill/>
          <a:ln/>
        </p:spPr>
        <p:txBody>
          <a:bodyPr wrap="square" lIns="0" tIns="0" rIns="0" bIns="0" rtlCol="0" anchor="t"/>
          <a:lstStyle/>
          <a:p>
            <a:pPr indent="0" marL="0">
              <a:buNone/>
            </a:pPr>
            <a:r>
              <a:rPr lang="en-US" sz="1400" dirty="0">
                <a:solidFill>
                  <a:schemeClr val="tx2"/>
                </a:solidFill>
              </a:rPr>
              <a:t>At 25 and 30 °C, k = 6 covers 92.3% of busy time; at 35 °C it covers 99.4%. k = 2 and k = 4 are never chosen.</a:t>
            </a:r>
            <a:endParaRPr lang="en-US" sz="1400" dirty="0"/>
          </a:p>
        </p:txBody>
      </p:sp>
      <p:pic>
        <p:nvPicPr>
          <p:cNvPr id="5" name="Figure 11 sensitivity" descr="/tmp/deck/img/fig_E_sensitivity.png">    </p:cNvPr>
          <p:cNvPicPr>
            <a:picLocks noChangeAspect="1"/>
          </p:cNvPicPr>
          <p:nvPr/>
        </p:nvPicPr>
        <p:blipFill>
          <a:blip r:embed="rId2"/>
          <a:stretch>
            <a:fillRect/>
          </a:stretch>
        </p:blipFill>
        <p:spPr>
          <a:xfrm>
            <a:off x="5669280" y="1325880"/>
            <a:ext cx="5943600" cy="1449659"/>
          </a:xfrm>
          <a:prstGeom prst="rect">
            <a:avLst/>
          </a:prstGeom>
        </p:spPr>
      </p:pic>
      <p:sp>
        <p:nvSpPr>
          <p:cNvPr id="6" name="sensitivity text"/>
          <p:cNvSpPr txBox="1"/>
          <p:nvPr/>
        </p:nvSpPr>
        <p:spPr>
          <a:xfrm>
            <a:off x="5669280" y="2834640"/>
            <a:ext cx="5943600" cy="548640"/>
          </a:xfrm>
          <a:prstGeom prst="rect">
            <a:avLst/>
          </a:prstGeom>
          <a:noFill/>
          <a:ln/>
        </p:spPr>
        <p:txBody>
          <a:bodyPr wrap="square" lIns="0" tIns="0" rIns="0" bIns="0" rtlCol="0" anchor="ctr"/>
          <a:lstStyle/>
          <a:p>
            <a:pPr indent="0" marL="0">
              <a:buNone/>
            </a:pPr>
            <a:r>
              <a:rPr lang="en-US" sz="1300" dirty="0">
                <a:solidFill>
                  <a:schemeClr val="tx2"/>
                </a:solidFill>
              </a:rPr>
              <a:t>Horizon H and skin margin: a 2 °C margin removes throttling for every horizon at ≤ 0.03 perplexity.</a:t>
            </a:r>
            <a:endParaRPr lang="en-US" sz="1300" dirty="0"/>
          </a:p>
        </p:txBody>
      </p:sp>
      <p:pic>
        <p:nvPicPr>
          <p:cNvPr id="7" name="Figure 12 penalty weight" descr="/tmp/deck/img/fig_K_lambda.png">    </p:cNvPr>
          <p:cNvPicPr>
            <a:picLocks noChangeAspect="1"/>
          </p:cNvPicPr>
          <p:nvPr/>
        </p:nvPicPr>
        <p:blipFill>
          <a:blip r:embed="rId3"/>
          <a:stretch>
            <a:fillRect/>
          </a:stretch>
        </p:blipFill>
        <p:spPr>
          <a:xfrm>
            <a:off x="5669280" y="3520440"/>
            <a:ext cx="5943600" cy="1388692"/>
          </a:xfrm>
          <a:prstGeom prst="rect">
            <a:avLst/>
          </a:prstGeom>
        </p:spPr>
      </p:pic>
      <p:sp>
        <p:nvSpPr>
          <p:cNvPr id="8" name="lambda text"/>
          <p:cNvSpPr txBox="1"/>
          <p:nvPr/>
        </p:nvSpPr>
        <p:spPr>
          <a:xfrm>
            <a:off x="5669280" y="4983480"/>
            <a:ext cx="5943600" cy="548640"/>
          </a:xfrm>
          <a:prstGeom prst="rect">
            <a:avLst/>
          </a:prstGeom>
          <a:noFill/>
          <a:ln/>
        </p:spPr>
        <p:txBody>
          <a:bodyPr wrap="square" lIns="0" tIns="0" rIns="0" bIns="0" rtlCol="0" anchor="ctr"/>
          <a:lstStyle/>
          <a:p>
            <a:pPr indent="0" marL="0">
              <a:buNone/>
            </a:pPr>
            <a:r>
              <a:rPr lang="en-US" sz="1300" dirty="0">
                <a:solidFill>
                  <a:schemeClr val="tx2"/>
                </a:solidFill>
              </a:rPr>
              <a:t>Penalty weight λ: throttling falls from 223.0 s at λ = 0.5 to zero for λ ≥ 10, with &lt; 0.002 perplexity change.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Robust up to moderate mismatch, with negligible overhead</a:t>
            </a:r>
            <a:endParaRPr lang="en-US" sz="3000" dirty="0"/>
          </a:p>
        </p:txBody>
      </p:sp>
      <p:pic>
        <p:nvPicPr>
          <p:cNvPr id="3" name="Figure 13 mismatch" descr="/tmp/deck/img/fig_F_mismatch.png">    </p:cNvPr>
          <p:cNvPicPr>
            <a:picLocks noChangeAspect="1"/>
          </p:cNvPicPr>
          <p:nvPr/>
        </p:nvPicPr>
        <p:blipFill>
          <a:blip r:embed="rId1"/>
          <a:stretch>
            <a:fillRect/>
          </a:stretch>
        </p:blipFill>
        <p:spPr>
          <a:xfrm>
            <a:off x="548640" y="1280160"/>
            <a:ext cx="7680960" cy="2245895"/>
          </a:xfrm>
          <a:prstGeom prst="rect">
            <a:avLst/>
          </a:prstGeom>
        </p:spPr>
      </p:pic>
      <p:sp>
        <p:nvSpPr>
          <p:cNvPr id="4" name="figure 13 caption"/>
          <p:cNvSpPr txBox="1"/>
          <p:nvPr/>
        </p:nvSpPr>
        <p:spPr>
          <a:xfrm>
            <a:off x="548640" y="3611880"/>
            <a:ext cx="7680960" cy="365760"/>
          </a:xfrm>
          <a:prstGeom prst="rect">
            <a:avLst/>
          </a:prstGeom>
          <a:noFill/>
          <a:ln/>
        </p:spPr>
        <p:txBody>
          <a:bodyPr wrap="square" lIns="0" tIns="0" rIns="0" bIns="0" rtlCol="0" anchor="ctr"/>
          <a:lstStyle/>
          <a:p>
            <a:pPr indent="0" marL="0">
              <a:buNone/>
            </a:pPr>
            <a:r>
              <a:rPr lang="en-US" sz="1200" dirty="0">
                <a:solidFill>
                  <a:schemeClr val="accent5"/>
                </a:solidFill>
              </a:rPr>
              <a:t>Plant mismatch δ from 0 to 0.3: peak skin temperature, throttling time, and effective perplexity.</a:t>
            </a:r>
            <a:endParaRPr lang="en-US" sz="1200" dirty="0"/>
          </a:p>
        </p:txBody>
      </p:sp>
      <p:sp>
        <p:nvSpPr>
          <p:cNvPr id="5" name="robustness text"/>
          <p:cNvSpPr txBox="1"/>
          <p:nvPr/>
        </p:nvSpPr>
        <p:spPr>
          <a:xfrm>
            <a:off x="548640" y="4160520"/>
            <a:ext cx="7680960" cy="1828800"/>
          </a:xfrm>
          <a:prstGeom prst="rect">
            <a:avLst/>
          </a:prstGeom>
          <a:noFill/>
          <a:ln/>
        </p:spPr>
        <p:txBody>
          <a:bodyPr wrap="square" lIns="0" tIns="0" rIns="0" bIns="0" rtlCol="0" anchor="t"/>
          <a:lstStyle/>
          <a:p>
            <a:pPr indent="0" marL="0">
              <a:spcAft>
                <a:spcPts val="800"/>
              </a:spcAft>
              <a:buNone/>
            </a:pPr>
            <a:r>
              <a:rPr lang="en-US" sz="1400" dirty="0">
                <a:solidFill>
                  <a:schemeClr val="tx2"/>
                </a:solidFill>
              </a:rPr>
              <a:t>Throttling grows from 0.0 s without mismatch to 125.2 s at δ = 0.2 and 194.0 s at δ = 0.3, while ReactiveDVFS stays below 41.1 s.</a:t>
            </a:r>
            <a:endParaRPr lang="en-US" sz="1400" dirty="0"/>
          </a:p>
          <a:p>
            <a:pPr indent="0" marL="0">
              <a:spcAft>
                <a:spcPts val="800"/>
              </a:spcAft>
              <a:buNone/>
            </a:pPr>
            <a:r>
              <a:rPr lang="en-US" sz="1400" dirty="0">
                <a:solidFill>
                  <a:schemeClr val="tx2"/>
                </a:solidFill>
              </a:rPr>
              <a:t>ThermoRoute keeps p95 latency at most 18.38 s against at least 25.10 s for every baseline, and 0.097 J per token at every level.</a:t>
            </a:r>
            <a:endParaRPr lang="en-US" sz="1400" dirty="0"/>
          </a:p>
        </p:txBody>
      </p:sp>
      <p:sp>
        <p:nvSpPr>
          <p:cNvPr id="6" name="overhead stat value"/>
          <p:cNvSpPr txBox="1"/>
          <p:nvPr/>
        </p:nvSpPr>
        <p:spPr>
          <a:xfrm>
            <a:off x="8686800" y="1371600"/>
            <a:ext cx="2926080" cy="86868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1.0 ms</a:t>
            </a:r>
            <a:endParaRPr lang="en-US" sz="4400" dirty="0"/>
          </a:p>
        </p:txBody>
      </p:sp>
      <p:sp>
        <p:nvSpPr>
          <p:cNvPr id="7" name="overhead stat label"/>
          <p:cNvSpPr txBox="1"/>
          <p:nvPr/>
        </p:nvSpPr>
        <p:spPr>
          <a:xfrm>
            <a:off x="8686800" y="2286000"/>
            <a:ext cx="2926080" cy="685800"/>
          </a:xfrm>
          <a:prstGeom prst="rect">
            <a:avLst/>
          </a:prstGeom>
          <a:noFill/>
          <a:ln/>
        </p:spPr>
        <p:txBody>
          <a:bodyPr wrap="square" lIns="0" tIns="0" rIns="0" bIns="0" rtlCol="0" anchor="t"/>
          <a:lstStyle/>
          <a:p>
            <a:pPr indent="0" marL="0">
              <a:buNone/>
            </a:pPr>
            <a:r>
              <a:rPr lang="en-US" sz="1400" dirty="0">
                <a:solidFill>
                  <a:schemeClr val="tx2"/>
                </a:solidFill>
              </a:rPr>
              <a:t>median decision time per slot in unoptimized Python, 0.1% of one core</a:t>
            </a:r>
            <a:endParaRPr lang="en-US" sz="1400" dirty="0"/>
          </a:p>
        </p:txBody>
      </p:sp>
      <p:sp>
        <p:nvSpPr>
          <p:cNvPr id="8" name="updates stat value"/>
          <p:cNvSpPr txBox="1"/>
          <p:nvPr/>
        </p:nvSpPr>
        <p:spPr>
          <a:xfrm>
            <a:off x="8686800" y="3383280"/>
            <a:ext cx="2926080" cy="868680"/>
          </a:xfrm>
          <a:prstGeom prst="rect">
            <a:avLst/>
          </a:prstGeom>
          <a:noFill/>
          <a:ln/>
        </p:spPr>
        <p:txBody>
          <a:bodyPr wrap="square" lIns="0" tIns="0" rIns="0" bIns="0" rtlCol="0" anchor="b"/>
          <a:lstStyle/>
          <a:p>
            <a:pPr indent="0" marL="0">
              <a:buNone/>
            </a:pPr>
            <a:r>
              <a:rPr lang="en-US" sz="4400" b="1" dirty="0">
                <a:solidFill>
                  <a:schemeClr val="accent3"/>
                </a:solidFill>
                <a:latin typeface="Cambria" pitchFamily="34" charset="0"/>
                <a:ea typeface="Cambria" pitchFamily="34" charset="-122"/>
                <a:cs typeface="Cambria" pitchFamily="34" charset="-120"/>
              </a:rPr>
              <a:t>528</a:t>
            </a:r>
            <a:endParaRPr lang="en-US" sz="4400" dirty="0"/>
          </a:p>
        </p:txBody>
      </p:sp>
      <p:sp>
        <p:nvSpPr>
          <p:cNvPr id="9" name="updates stat label"/>
          <p:cNvSpPr txBox="1"/>
          <p:nvPr/>
        </p:nvSpPr>
        <p:spPr>
          <a:xfrm>
            <a:off x="8686800" y="4297680"/>
            <a:ext cx="2926080" cy="685800"/>
          </a:xfrm>
          <a:prstGeom prst="rect">
            <a:avLst/>
          </a:prstGeom>
          <a:noFill/>
          <a:ln/>
        </p:spPr>
        <p:txBody>
          <a:bodyPr wrap="square" lIns="0" tIns="0" rIns="0" bIns="0" rtlCol="0" anchor="t"/>
          <a:lstStyle/>
          <a:p>
            <a:pPr indent="0" marL="0">
              <a:buNone/>
            </a:pPr>
            <a:r>
              <a:rPr lang="en-US" sz="1400" dirty="0">
                <a:solidFill>
                  <a:schemeClr val="tx2"/>
                </a:solidFill>
              </a:rPr>
              <a:t>rollout and lookahead updates per decision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Limitations and future work</a:t>
            </a:r>
            <a:endParaRPr lang="en-US" sz="3000" dirty="0"/>
          </a:p>
        </p:txBody>
      </p:sp>
      <p:sp>
        <p:nvSpPr>
          <p:cNvPr id="3" name="limit card 1"/>
          <p:cNvSpPr/>
          <p:nvPr/>
        </p:nvSpPr>
        <p:spPr>
          <a:xfrm>
            <a:off x="548640" y="1371600"/>
            <a:ext cx="5394960" cy="1645920"/>
          </a:xfrm>
          <a:prstGeom prst="roundRect">
            <a:avLst>
              <a:gd name="adj" fmla="val 4444"/>
            </a:avLst>
          </a:prstGeom>
          <a:solidFill>
            <a:schemeClr val="bg2"/>
          </a:solidFill>
          <a:ln w="12700">
            <a:solidFill>
              <a:schemeClr val="bg2"/>
            </a:solidFill>
            <a:prstDash val="solid"/>
          </a:ln>
        </p:spPr>
      </p:sp>
      <p:sp>
        <p:nvSpPr>
          <p:cNvPr id="4" name="limit 1 circle"/>
          <p:cNvSpPr/>
          <p:nvPr/>
        </p:nvSpPr>
        <p:spPr>
          <a:xfrm>
            <a:off x="822960" y="1691640"/>
            <a:ext cx="640080" cy="640080"/>
          </a:xfrm>
          <a:prstGeom prst="ellipse">
            <a:avLst/>
          </a:prstGeom>
          <a:solidFill>
            <a:schemeClr val="accent5"/>
          </a:solidFill>
          <a:ln w="12700">
            <a:solidFill>
              <a:schemeClr val="accent5"/>
            </a:solidFill>
            <a:prstDash val="solid"/>
          </a:ln>
        </p:spPr>
      </p:sp>
      <p:pic>
        <p:nvPicPr>
          <p:cNvPr id="5" name="limit 1 icon" descr="preencoded.png">    </p:cNvPr>
          <p:cNvPicPr>
            <a:picLocks noChangeAspect="1"/>
          </p:cNvPicPr>
          <p:nvPr/>
        </p:nvPicPr>
        <p:blipFill>
          <a:blip r:embed="rId1"/>
          <a:stretch>
            <a:fillRect/>
          </a:stretch>
        </p:blipFill>
        <p:spPr>
          <a:xfrm>
            <a:off x="982980" y="1851660"/>
            <a:ext cx="320040" cy="320040"/>
          </a:xfrm>
          <a:prstGeom prst="rect">
            <a:avLst/>
          </a:prstGeom>
        </p:spPr>
      </p:pic>
      <p:sp>
        <p:nvSpPr>
          <p:cNvPr id="6" name="limit head 1"/>
          <p:cNvSpPr txBox="1"/>
          <p:nvPr/>
        </p:nvSpPr>
        <p:spPr>
          <a:xfrm>
            <a:off x="1691640" y="1645920"/>
            <a:ext cx="4023360" cy="365760"/>
          </a:xfrm>
          <a:prstGeom prst="rect">
            <a:avLst/>
          </a:prstGeom>
          <a:noFill/>
          <a:ln/>
        </p:spPr>
        <p:txBody>
          <a:bodyPr wrap="square" lIns="0" tIns="0" rIns="0" bIns="0" rtlCol="0" anchor="ctr"/>
          <a:lstStyle/>
          <a:p>
            <a:pPr indent="0" marL="0">
              <a:buNone/>
            </a:pPr>
            <a:r>
              <a:rPr lang="en-US" sz="1700" b="1" dirty="0">
                <a:solidFill>
                  <a:schemeClr val="tx1"/>
                </a:solidFill>
              </a:rPr>
              <a:t>Calibrated simulation</a:t>
            </a:r>
            <a:endParaRPr lang="en-US" sz="1700" dirty="0"/>
          </a:p>
        </p:txBody>
      </p:sp>
      <p:sp>
        <p:nvSpPr>
          <p:cNvPr id="7" name="limit text 1"/>
          <p:cNvSpPr txBox="1"/>
          <p:nvPr/>
        </p:nvSpPr>
        <p:spPr>
          <a:xfrm>
            <a:off x="1691640" y="2057400"/>
            <a:ext cx="4023360" cy="822960"/>
          </a:xfrm>
          <a:prstGeom prst="rect">
            <a:avLst/>
          </a:prstGeom>
          <a:noFill/>
          <a:ln/>
        </p:spPr>
        <p:txBody>
          <a:bodyPr wrap="square" lIns="0" tIns="0" rIns="0" bIns="0" rtlCol="0" anchor="t"/>
          <a:lstStyle/>
          <a:p>
            <a:pPr indent="0" marL="0">
              <a:buNone/>
            </a:pPr>
            <a:r>
              <a:rPr lang="en-US" sz="1400" dirty="0">
                <a:solidFill>
                  <a:schemeClr val="tx2"/>
                </a:solidFill>
              </a:rPr>
              <a:t>Thermal and power parameters are representative, not identified on a specific handset.</a:t>
            </a:r>
            <a:endParaRPr lang="en-US" sz="1400" dirty="0"/>
          </a:p>
        </p:txBody>
      </p:sp>
      <p:sp>
        <p:nvSpPr>
          <p:cNvPr id="8" name="limit card 2"/>
          <p:cNvSpPr/>
          <p:nvPr/>
        </p:nvSpPr>
        <p:spPr>
          <a:xfrm>
            <a:off x="6217920" y="1371600"/>
            <a:ext cx="5394960" cy="1645920"/>
          </a:xfrm>
          <a:prstGeom prst="roundRect">
            <a:avLst>
              <a:gd name="adj" fmla="val 4444"/>
            </a:avLst>
          </a:prstGeom>
          <a:solidFill>
            <a:schemeClr val="bg2"/>
          </a:solidFill>
          <a:ln w="12700">
            <a:solidFill>
              <a:schemeClr val="bg2"/>
            </a:solidFill>
            <a:prstDash val="solid"/>
          </a:ln>
        </p:spPr>
      </p:sp>
      <p:sp>
        <p:nvSpPr>
          <p:cNvPr id="9" name="limit 2 circle"/>
          <p:cNvSpPr/>
          <p:nvPr/>
        </p:nvSpPr>
        <p:spPr>
          <a:xfrm>
            <a:off x="6492240" y="1691640"/>
            <a:ext cx="640080" cy="640080"/>
          </a:xfrm>
          <a:prstGeom prst="ellipse">
            <a:avLst/>
          </a:prstGeom>
          <a:solidFill>
            <a:schemeClr val="accent5"/>
          </a:solidFill>
          <a:ln w="12700">
            <a:solidFill>
              <a:schemeClr val="accent5"/>
            </a:solidFill>
            <a:prstDash val="solid"/>
          </a:ln>
        </p:spPr>
      </p:sp>
      <p:pic>
        <p:nvPicPr>
          <p:cNvPr id="10" name="limit 2 icon" descr="preencoded.png">    </p:cNvPr>
          <p:cNvPicPr>
            <a:picLocks noChangeAspect="1"/>
          </p:cNvPicPr>
          <p:nvPr/>
        </p:nvPicPr>
        <p:blipFill>
          <a:blip r:embed="rId2"/>
          <a:stretch>
            <a:fillRect/>
          </a:stretch>
        </p:blipFill>
        <p:spPr>
          <a:xfrm>
            <a:off x="6652260" y="1851660"/>
            <a:ext cx="320040" cy="320040"/>
          </a:xfrm>
          <a:prstGeom prst="rect">
            <a:avLst/>
          </a:prstGeom>
        </p:spPr>
      </p:pic>
      <p:sp>
        <p:nvSpPr>
          <p:cNvPr id="11" name="limit head 2"/>
          <p:cNvSpPr txBox="1"/>
          <p:nvPr/>
        </p:nvSpPr>
        <p:spPr>
          <a:xfrm>
            <a:off x="7360920" y="1645920"/>
            <a:ext cx="4023360" cy="365760"/>
          </a:xfrm>
          <a:prstGeom prst="rect">
            <a:avLst/>
          </a:prstGeom>
          <a:noFill/>
          <a:ln/>
        </p:spPr>
        <p:txBody>
          <a:bodyPr wrap="square" lIns="0" tIns="0" rIns="0" bIns="0" rtlCol="0" anchor="ctr"/>
          <a:lstStyle/>
          <a:p>
            <a:pPr indent="0" marL="0">
              <a:buNone/>
            </a:pPr>
            <a:r>
              <a:rPr lang="en-US" sz="1700" b="1" dirty="0">
                <a:solidFill>
                  <a:schemeClr val="tx1"/>
                </a:solidFill>
              </a:rPr>
              <a:t>Response lengths</a:t>
            </a:r>
            <a:endParaRPr lang="en-US" sz="1700" dirty="0"/>
          </a:p>
        </p:txBody>
      </p:sp>
      <p:sp>
        <p:nvSpPr>
          <p:cNvPr id="12" name="limit text 2"/>
          <p:cNvSpPr txBox="1"/>
          <p:nvPr/>
        </p:nvSpPr>
        <p:spPr>
          <a:xfrm>
            <a:off x="7360920" y="2057400"/>
            <a:ext cx="4023360" cy="822960"/>
          </a:xfrm>
          <a:prstGeom prst="rect">
            <a:avLst/>
          </a:prstGeom>
          <a:noFill/>
          <a:ln/>
        </p:spPr>
        <p:txBody>
          <a:bodyPr wrap="square" lIns="0" tIns="0" rIns="0" bIns="0" rtlCol="0" anchor="t"/>
          <a:lstStyle/>
          <a:p>
            <a:pPr indent="0" marL="0">
              <a:buNone/>
            </a:pPr>
            <a:r>
              <a:rPr lang="en-US" sz="1400" dirty="0">
                <a:solidFill>
                  <a:schemeClr val="tx2"/>
                </a:solidFill>
              </a:rPr>
              <a:t>Lengths come from the models that served LMSYS, led by Vicuna 13B, rather than OLMoE.</a:t>
            </a:r>
            <a:endParaRPr lang="en-US" sz="1400" dirty="0"/>
          </a:p>
        </p:txBody>
      </p:sp>
      <p:sp>
        <p:nvSpPr>
          <p:cNvPr id="13" name="limit card 3"/>
          <p:cNvSpPr/>
          <p:nvPr/>
        </p:nvSpPr>
        <p:spPr>
          <a:xfrm>
            <a:off x="548640" y="3246120"/>
            <a:ext cx="5394960" cy="1645920"/>
          </a:xfrm>
          <a:prstGeom prst="roundRect">
            <a:avLst>
              <a:gd name="adj" fmla="val 4444"/>
            </a:avLst>
          </a:prstGeom>
          <a:solidFill>
            <a:schemeClr val="bg2"/>
          </a:solidFill>
          <a:ln w="12700">
            <a:solidFill>
              <a:schemeClr val="bg2"/>
            </a:solidFill>
            <a:prstDash val="solid"/>
          </a:ln>
        </p:spPr>
      </p:sp>
      <p:sp>
        <p:nvSpPr>
          <p:cNvPr id="14" name="limit 3 circle"/>
          <p:cNvSpPr/>
          <p:nvPr/>
        </p:nvSpPr>
        <p:spPr>
          <a:xfrm>
            <a:off x="822960" y="3566160"/>
            <a:ext cx="640080" cy="640080"/>
          </a:xfrm>
          <a:prstGeom prst="ellipse">
            <a:avLst/>
          </a:prstGeom>
          <a:solidFill>
            <a:schemeClr val="accent5"/>
          </a:solidFill>
          <a:ln w="12700">
            <a:solidFill>
              <a:schemeClr val="accent5"/>
            </a:solidFill>
            <a:prstDash val="solid"/>
          </a:ln>
        </p:spPr>
      </p:sp>
      <p:pic>
        <p:nvPicPr>
          <p:cNvPr id="15" name="limit 3 icon" descr="preencoded.png">    </p:cNvPr>
          <p:cNvPicPr>
            <a:picLocks noChangeAspect="1"/>
          </p:cNvPicPr>
          <p:nvPr/>
        </p:nvPicPr>
        <p:blipFill>
          <a:blip r:embed="rId3"/>
          <a:stretch>
            <a:fillRect/>
          </a:stretch>
        </p:blipFill>
        <p:spPr>
          <a:xfrm>
            <a:off x="982980" y="3726180"/>
            <a:ext cx="320040" cy="320040"/>
          </a:xfrm>
          <a:prstGeom prst="rect">
            <a:avLst/>
          </a:prstGeom>
        </p:spPr>
      </p:pic>
      <p:sp>
        <p:nvSpPr>
          <p:cNvPr id="16" name="limit head 3"/>
          <p:cNvSpPr txBox="1"/>
          <p:nvPr/>
        </p:nvSpPr>
        <p:spPr>
          <a:xfrm>
            <a:off x="1691640" y="3520440"/>
            <a:ext cx="4023360" cy="365760"/>
          </a:xfrm>
          <a:prstGeom prst="rect">
            <a:avLst/>
          </a:prstGeom>
          <a:noFill/>
          <a:ln/>
        </p:spPr>
        <p:txBody>
          <a:bodyPr wrap="square" lIns="0" tIns="0" rIns="0" bIns="0" rtlCol="0" anchor="ctr"/>
          <a:lstStyle/>
          <a:p>
            <a:pPr indent="0" marL="0">
              <a:buNone/>
            </a:pPr>
            <a:r>
              <a:rPr lang="en-US" sz="1700" b="1" dirty="0">
                <a:solidFill>
                  <a:schemeClr val="tx1"/>
                </a:solidFill>
              </a:rPr>
              <a:t>Single foreground model</a:t>
            </a:r>
            <a:endParaRPr lang="en-US" sz="1700" dirty="0"/>
          </a:p>
        </p:txBody>
      </p:sp>
      <p:sp>
        <p:nvSpPr>
          <p:cNvPr id="17" name="limit text 3"/>
          <p:cNvSpPr txBox="1"/>
          <p:nvPr/>
        </p:nvSpPr>
        <p:spPr>
          <a:xfrm>
            <a:off x="1691640" y="3931920"/>
            <a:ext cx="4023360" cy="822960"/>
          </a:xfrm>
          <a:prstGeom prst="rect">
            <a:avLst/>
          </a:prstGeom>
          <a:noFill/>
          <a:ln/>
        </p:spPr>
        <p:txBody>
          <a:bodyPr wrap="square" lIns="0" tIns="0" rIns="0" bIns="0" rtlCol="0" anchor="t"/>
          <a:lstStyle/>
          <a:p>
            <a:pPr indent="0" marL="0">
              <a:buNone/>
            </a:pPr>
            <a:r>
              <a:rPr lang="en-US" sz="1400" dirty="0">
                <a:solidFill>
                  <a:schemeClr val="tx2"/>
                </a:solidFill>
              </a:rPr>
              <a:t>Contention with other applications is not modeled.</a:t>
            </a:r>
            <a:endParaRPr lang="en-US" sz="1400" dirty="0"/>
          </a:p>
        </p:txBody>
      </p:sp>
      <p:sp>
        <p:nvSpPr>
          <p:cNvPr id="18" name="limit card 4"/>
          <p:cNvSpPr/>
          <p:nvPr/>
        </p:nvSpPr>
        <p:spPr>
          <a:xfrm>
            <a:off x="6217920" y="3246120"/>
            <a:ext cx="5394960" cy="1645920"/>
          </a:xfrm>
          <a:prstGeom prst="roundRect">
            <a:avLst>
              <a:gd name="adj" fmla="val 4444"/>
            </a:avLst>
          </a:prstGeom>
          <a:solidFill>
            <a:schemeClr val="bg2"/>
          </a:solidFill>
          <a:ln w="12700">
            <a:solidFill>
              <a:schemeClr val="bg2"/>
            </a:solidFill>
            <a:prstDash val="solid"/>
          </a:ln>
        </p:spPr>
      </p:sp>
      <p:sp>
        <p:nvSpPr>
          <p:cNvPr id="19" name="limit 4 circle"/>
          <p:cNvSpPr/>
          <p:nvPr/>
        </p:nvSpPr>
        <p:spPr>
          <a:xfrm>
            <a:off x="6492240" y="3566160"/>
            <a:ext cx="640080" cy="640080"/>
          </a:xfrm>
          <a:prstGeom prst="ellipse">
            <a:avLst/>
          </a:prstGeom>
          <a:solidFill>
            <a:schemeClr val="accent5"/>
          </a:solidFill>
          <a:ln w="12700">
            <a:solidFill>
              <a:schemeClr val="accent5"/>
            </a:solidFill>
            <a:prstDash val="solid"/>
          </a:ln>
        </p:spPr>
      </p:sp>
      <p:pic>
        <p:nvPicPr>
          <p:cNvPr id="20" name="limit 4 icon" descr="preencoded.png">    </p:cNvPr>
          <p:cNvPicPr>
            <a:picLocks noChangeAspect="1"/>
          </p:cNvPicPr>
          <p:nvPr/>
        </p:nvPicPr>
        <p:blipFill>
          <a:blip r:embed="rId4"/>
          <a:stretch>
            <a:fillRect/>
          </a:stretch>
        </p:blipFill>
        <p:spPr>
          <a:xfrm>
            <a:off x="6652260" y="3726180"/>
            <a:ext cx="320040" cy="320040"/>
          </a:xfrm>
          <a:prstGeom prst="rect">
            <a:avLst/>
          </a:prstGeom>
        </p:spPr>
      </p:pic>
      <p:sp>
        <p:nvSpPr>
          <p:cNvPr id="21" name="limit head 4"/>
          <p:cNvSpPr txBox="1"/>
          <p:nvPr/>
        </p:nvSpPr>
        <p:spPr>
          <a:xfrm>
            <a:off x="7360920" y="3520440"/>
            <a:ext cx="4023360" cy="365760"/>
          </a:xfrm>
          <a:prstGeom prst="rect">
            <a:avLst/>
          </a:prstGeom>
          <a:noFill/>
          <a:ln/>
        </p:spPr>
        <p:txBody>
          <a:bodyPr wrap="square" lIns="0" tIns="0" rIns="0" bIns="0" rtlCol="0" anchor="ctr"/>
          <a:lstStyle/>
          <a:p>
            <a:pPr indent="0" marL="0">
              <a:buNone/>
            </a:pPr>
            <a:r>
              <a:rPr lang="en-US" sz="1700" b="1" dirty="0">
                <a:solidFill>
                  <a:schemeClr val="tx1"/>
                </a:solidFill>
              </a:rPr>
              <a:t>Mismatch beyond 20%</a:t>
            </a:r>
            <a:endParaRPr lang="en-US" sz="1700" dirty="0"/>
          </a:p>
        </p:txBody>
      </p:sp>
      <p:sp>
        <p:nvSpPr>
          <p:cNvPr id="22" name="limit text 4"/>
          <p:cNvSpPr txBox="1"/>
          <p:nvPr/>
        </p:nvSpPr>
        <p:spPr>
          <a:xfrm>
            <a:off x="7360920" y="3931920"/>
            <a:ext cx="4023360" cy="822960"/>
          </a:xfrm>
          <a:prstGeom prst="rect">
            <a:avLst/>
          </a:prstGeom>
          <a:noFill/>
          <a:ln/>
        </p:spPr>
        <p:txBody>
          <a:bodyPr wrap="square" lIns="0" tIns="0" rIns="0" bIns="0" rtlCol="0" anchor="t"/>
          <a:lstStyle/>
          <a:p>
            <a:pPr indent="0" marL="0">
              <a:buNone/>
            </a:pPr>
            <a:r>
              <a:rPr lang="en-US" sz="1400" dirty="0">
                <a:solidFill>
                  <a:schemeClr val="tx2"/>
                </a:solidFill>
              </a:rPr>
              <a:t>Erodes the throttling advantage and motivates online parameter identification.</a:t>
            </a:r>
            <a:endParaRPr lang="en-US" sz="1400" dirty="0"/>
          </a:p>
        </p:txBody>
      </p:sp>
      <p:sp>
        <p:nvSpPr>
          <p:cNvPr id="23" name="future work"/>
          <p:cNvSpPr txBox="1"/>
          <p:nvPr/>
        </p:nvSpPr>
        <p:spPr>
          <a:xfrm>
            <a:off x="548640" y="5257800"/>
            <a:ext cx="11064240" cy="822960"/>
          </a:xfrm>
          <a:prstGeom prst="rect">
            <a:avLst/>
          </a:prstGeom>
          <a:noFill/>
          <a:ln/>
        </p:spPr>
        <p:txBody>
          <a:bodyPr wrap="square" lIns="0" tIns="0" rIns="0" bIns="0" rtlCol="0" anchor="ctr"/>
          <a:lstStyle/>
          <a:p>
            <a:pPr indent="0" marL="0">
              <a:buNone/>
            </a:pPr>
            <a:r>
              <a:rPr lang="en-US" sz="1500" dirty="0">
                <a:solidFill>
                  <a:schemeClr val="tx1"/>
                </a:solidFill>
              </a:rPr>
              <a:t>Future work: identify thermal parameters online on commercial handsets, handle several concurrent models, add per expert placement on heterogeneous clusters, and combine scheduling with expert caching and offloading.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640080" y="2651760"/>
            <a:ext cx="10881360" cy="10058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How to run it</a:t>
            </a:r>
            <a:endParaRPr lang="en-US" sz="4400" dirty="0"/>
          </a:p>
        </p:txBody>
      </p:sp>
      <p:sp>
        <p:nvSpPr>
          <p:cNvPr id="3" name="Text 0"/>
          <p:cNvSpPr/>
          <p:nvPr>
            <p:ph idx="101" type="body" hasCustomPrompt="1"/>
          </p:nvPr>
        </p:nvSpPr>
        <p:spPr>
          <a:xfrm>
            <a:off x="640080" y="3794760"/>
            <a:ext cx="10881360" cy="731520"/>
          </a:xfrm>
          <a:prstGeom prst="rect">
            <a:avLst/>
          </a:prstGeom>
          <a:noFill/>
          <a:ln/>
        </p:spPr>
        <p:txBody>
          <a:bodyPr wrap="square" lIns="0" tIns="0" rIns="0" bIns="0" rtlCol="0" anchor="t"/>
          <a:lstStyle/>
          <a:p>
            <a:pPr indent="0" marL="0">
              <a:buNone/>
            </a:pPr>
            <a:r>
              <a:rPr lang="en-US" sz="2000" dirty="0">
                <a:solidFill>
                  <a:schemeClr val="bg2"/>
                </a:solidFill>
              </a:rPr>
              <a:t>Repository layout, notebook pipeline, and quick start commands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Repository layout</a:t>
            </a:r>
            <a:endParaRPr lang="en-US" sz="3000" dirty="0"/>
          </a:p>
        </p:txBody>
      </p:sp>
      <p:sp>
        <p:nvSpPr>
          <p:cNvPr id="3" name="tree panel"/>
          <p:cNvSpPr/>
          <p:nvPr/>
        </p:nvSpPr>
        <p:spPr>
          <a:xfrm>
            <a:off x="548640" y="1371600"/>
            <a:ext cx="5120640" cy="4343400"/>
          </a:xfrm>
          <a:prstGeom prst="roundRect">
            <a:avLst>
              <a:gd name="adj" fmla="val 1684"/>
            </a:avLst>
          </a:prstGeom>
          <a:solidFill>
            <a:schemeClr val="tx1"/>
          </a:solidFill>
          <a:ln w="12700">
            <a:solidFill>
              <a:schemeClr val="tx1"/>
            </a:solidFill>
            <a:prstDash val="solid"/>
          </a:ln>
        </p:spPr>
      </p:sp>
      <p:sp>
        <p:nvSpPr>
          <p:cNvPr id="4" name="repo tree"/>
          <p:cNvSpPr txBox="1"/>
          <p:nvPr/>
        </p:nvSpPr>
        <p:spPr>
          <a:xfrm>
            <a:off x="822960" y="1600200"/>
            <a:ext cx="4663440" cy="429768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ThermoRoute/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ThermoRoute.ipynb</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requirements.txt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sim/</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config.py   plant.py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workload.py controllers.py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runner.py   stats_tables.py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figs.py     model_profile.py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data/</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results/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raw_runs.zip</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figures/</a:t>
            </a:r>
            <a:endParaRPr lang="en-US" sz="1400" dirty="0"/>
          </a:p>
        </p:txBody>
      </p:sp>
      <p:sp>
        <p:nvSpPr>
          <p:cNvPr id="5" name="row 1 circle"/>
          <p:cNvSpPr/>
          <p:nvPr/>
        </p:nvSpPr>
        <p:spPr>
          <a:xfrm>
            <a:off x="6126480" y="1417320"/>
            <a:ext cx="566928" cy="566928"/>
          </a:xfrm>
          <a:prstGeom prst="ellipse">
            <a:avLst/>
          </a:prstGeom>
          <a:solidFill>
            <a:schemeClr val="accent3"/>
          </a:solidFill>
          <a:ln w="12700">
            <a:solidFill>
              <a:schemeClr val="accent3"/>
            </a:solidFill>
            <a:prstDash val="solid"/>
          </a:ln>
        </p:spPr>
      </p:sp>
      <p:pic>
        <p:nvPicPr>
          <p:cNvPr id="6" name="row 1 icon" descr="preencoded.png">    </p:cNvPr>
          <p:cNvPicPr>
            <a:picLocks noChangeAspect="1"/>
          </p:cNvPicPr>
          <p:nvPr/>
        </p:nvPicPr>
        <p:blipFill>
          <a:blip r:embed="rId1"/>
          <a:stretch>
            <a:fillRect/>
          </a:stretch>
        </p:blipFill>
        <p:spPr>
          <a:xfrm>
            <a:off x="6268212" y="1559052"/>
            <a:ext cx="283464" cy="283464"/>
          </a:xfrm>
          <a:prstGeom prst="rect">
            <a:avLst/>
          </a:prstGeom>
        </p:spPr>
      </p:pic>
      <p:sp>
        <p:nvSpPr>
          <p:cNvPr id="7" name="row 1 head"/>
          <p:cNvSpPr txBox="1"/>
          <p:nvPr/>
        </p:nvSpPr>
        <p:spPr>
          <a:xfrm>
            <a:off x="6903720" y="1399032"/>
            <a:ext cx="4709160" cy="347472"/>
          </a:xfrm>
          <a:prstGeom prst="rect">
            <a:avLst/>
          </a:prstGeom>
          <a:noFill/>
          <a:ln/>
        </p:spPr>
        <p:txBody>
          <a:bodyPr wrap="square" lIns="0" tIns="0" rIns="0" bIns="0" rtlCol="0" anchor="ctr"/>
          <a:lstStyle/>
          <a:p>
            <a:pPr indent="0" marL="0">
              <a:buNone/>
            </a:pPr>
            <a:r>
              <a:rPr lang="en-US" sz="1700" b="1" dirty="0">
                <a:solidFill>
                  <a:schemeClr val="tx1"/>
                </a:solidFill>
              </a:rPr>
              <a:t>sim/</a:t>
            </a:r>
            <a:endParaRPr lang="en-US" sz="1700" dirty="0"/>
          </a:p>
        </p:txBody>
      </p:sp>
      <p:sp>
        <p:nvSpPr>
          <p:cNvPr id="8" name="row 1 text"/>
          <p:cNvSpPr txBox="1"/>
          <p:nvPr/>
        </p:nvSpPr>
        <p:spPr>
          <a:xfrm>
            <a:off x="6903720" y="1746504"/>
            <a:ext cx="4709160" cy="786384"/>
          </a:xfrm>
          <a:prstGeom prst="rect">
            <a:avLst/>
          </a:prstGeom>
          <a:noFill/>
          <a:ln/>
        </p:spPr>
        <p:txBody>
          <a:bodyPr wrap="square" lIns="0" tIns="0" rIns="0" bIns="0" rtlCol="0" anchor="t"/>
          <a:lstStyle/>
          <a:p>
            <a:pPr indent="0" marL="0">
              <a:buNone/>
            </a:pPr>
            <a:r>
              <a:rPr lang="en-US" sz="1400" dirty="0">
                <a:solidFill>
                  <a:schemeClr val="tx2"/>
                </a:solidFill>
              </a:rPr>
              <a:t>Simulator package; every constant lives in config.py.</a:t>
            </a:r>
            <a:endParaRPr lang="en-US" sz="1400" dirty="0"/>
          </a:p>
        </p:txBody>
      </p:sp>
      <p:sp>
        <p:nvSpPr>
          <p:cNvPr id="9" name="row 2 circle"/>
          <p:cNvSpPr/>
          <p:nvPr/>
        </p:nvSpPr>
        <p:spPr>
          <a:xfrm>
            <a:off x="6126480" y="2587752"/>
            <a:ext cx="566928" cy="566928"/>
          </a:xfrm>
          <a:prstGeom prst="ellipse">
            <a:avLst/>
          </a:prstGeom>
          <a:solidFill>
            <a:schemeClr val="accent3"/>
          </a:solidFill>
          <a:ln w="12700">
            <a:solidFill>
              <a:schemeClr val="accent3"/>
            </a:solidFill>
            <a:prstDash val="solid"/>
          </a:ln>
        </p:spPr>
      </p:sp>
      <p:pic>
        <p:nvPicPr>
          <p:cNvPr id="10" name="row 2 icon" descr="preencoded.png">    </p:cNvPr>
          <p:cNvPicPr>
            <a:picLocks noChangeAspect="1"/>
          </p:cNvPicPr>
          <p:nvPr/>
        </p:nvPicPr>
        <p:blipFill>
          <a:blip r:embed="rId2"/>
          <a:stretch>
            <a:fillRect/>
          </a:stretch>
        </p:blipFill>
        <p:spPr>
          <a:xfrm>
            <a:off x="6268212" y="2729484"/>
            <a:ext cx="283464" cy="283464"/>
          </a:xfrm>
          <a:prstGeom prst="rect">
            <a:avLst/>
          </a:prstGeom>
        </p:spPr>
      </p:pic>
      <p:sp>
        <p:nvSpPr>
          <p:cNvPr id="11" name="row 2 head"/>
          <p:cNvSpPr txBox="1"/>
          <p:nvPr/>
        </p:nvSpPr>
        <p:spPr>
          <a:xfrm>
            <a:off x="6903720" y="2569464"/>
            <a:ext cx="4709160" cy="347472"/>
          </a:xfrm>
          <a:prstGeom prst="rect">
            <a:avLst/>
          </a:prstGeom>
          <a:noFill/>
          <a:ln/>
        </p:spPr>
        <p:txBody>
          <a:bodyPr wrap="square" lIns="0" tIns="0" rIns="0" bIns="0" rtlCol="0" anchor="ctr"/>
          <a:lstStyle/>
          <a:p>
            <a:pPr indent="0" marL="0">
              <a:buNone/>
            </a:pPr>
            <a:r>
              <a:rPr lang="en-US" sz="1700" b="1" dirty="0">
                <a:solidFill>
                  <a:schemeClr val="tx1"/>
                </a:solidFill>
              </a:rPr>
              <a:t>data/</a:t>
            </a:r>
            <a:endParaRPr lang="en-US" sz="1700" dirty="0"/>
          </a:p>
        </p:txBody>
      </p:sp>
      <p:sp>
        <p:nvSpPr>
          <p:cNvPr id="12" name="row 2 text"/>
          <p:cNvSpPr txBox="1"/>
          <p:nvPr/>
        </p:nvSpPr>
        <p:spPr>
          <a:xfrm>
            <a:off x="6903720" y="2916936"/>
            <a:ext cx="4709160" cy="786384"/>
          </a:xfrm>
          <a:prstGeom prst="rect">
            <a:avLst/>
          </a:prstGeom>
          <a:noFill/>
          <a:ln/>
        </p:spPr>
        <p:txBody>
          <a:bodyPr wrap="square" lIns="0" tIns="0" rIns="0" bIns="0" rtlCol="0" anchor="t"/>
          <a:lstStyle/>
          <a:p>
            <a:pPr indent="0" marL="0">
              <a:buNone/>
            </a:pPr>
            <a:r>
              <a:rPr lang="en-US" sz="1400" dirty="0">
                <a:solidFill>
                  <a:schemeClr val="tx2"/>
                </a:solidFill>
              </a:rPr>
              <a:t>Measured k profile, expert union, OLMoE config, and 9456 request lengths (no text).</a:t>
            </a:r>
            <a:endParaRPr lang="en-US" sz="1400" dirty="0"/>
          </a:p>
        </p:txBody>
      </p:sp>
      <p:sp>
        <p:nvSpPr>
          <p:cNvPr id="13" name="row 3 circle"/>
          <p:cNvSpPr/>
          <p:nvPr/>
        </p:nvSpPr>
        <p:spPr>
          <a:xfrm>
            <a:off x="6126480" y="3758184"/>
            <a:ext cx="566928" cy="566928"/>
          </a:xfrm>
          <a:prstGeom prst="ellipse">
            <a:avLst/>
          </a:prstGeom>
          <a:solidFill>
            <a:schemeClr val="accent3"/>
          </a:solidFill>
          <a:ln w="12700">
            <a:solidFill>
              <a:schemeClr val="accent3"/>
            </a:solidFill>
            <a:prstDash val="solid"/>
          </a:ln>
        </p:spPr>
      </p:sp>
      <p:pic>
        <p:nvPicPr>
          <p:cNvPr id="14" name="row 3 icon" descr="preencoded.png">    </p:cNvPr>
          <p:cNvPicPr>
            <a:picLocks noChangeAspect="1"/>
          </p:cNvPicPr>
          <p:nvPr/>
        </p:nvPicPr>
        <p:blipFill>
          <a:blip r:embed="rId3"/>
          <a:stretch>
            <a:fillRect/>
          </a:stretch>
        </p:blipFill>
        <p:spPr>
          <a:xfrm>
            <a:off x="6268212" y="3899916"/>
            <a:ext cx="283464" cy="283464"/>
          </a:xfrm>
          <a:prstGeom prst="rect">
            <a:avLst/>
          </a:prstGeom>
        </p:spPr>
      </p:pic>
      <p:sp>
        <p:nvSpPr>
          <p:cNvPr id="15" name="row 3 head"/>
          <p:cNvSpPr txBox="1"/>
          <p:nvPr/>
        </p:nvSpPr>
        <p:spPr>
          <a:xfrm>
            <a:off x="6903720" y="3739896"/>
            <a:ext cx="4709160" cy="347472"/>
          </a:xfrm>
          <a:prstGeom prst="rect">
            <a:avLst/>
          </a:prstGeom>
          <a:noFill/>
          <a:ln/>
        </p:spPr>
        <p:txBody>
          <a:bodyPr wrap="square" lIns="0" tIns="0" rIns="0" bIns="0" rtlCol="0" anchor="ctr"/>
          <a:lstStyle/>
          <a:p>
            <a:pPr indent="0" marL="0">
              <a:buNone/>
            </a:pPr>
            <a:r>
              <a:rPr lang="en-US" sz="1700" b="1" dirty="0">
                <a:solidFill>
                  <a:schemeClr val="tx1"/>
                </a:solidFill>
              </a:rPr>
              <a:t>results/</a:t>
            </a:r>
            <a:endParaRPr lang="en-US" sz="1700" dirty="0"/>
          </a:p>
        </p:txBody>
      </p:sp>
      <p:sp>
        <p:nvSpPr>
          <p:cNvPr id="16" name="row 3 text"/>
          <p:cNvSpPr txBox="1"/>
          <p:nvPr/>
        </p:nvSpPr>
        <p:spPr>
          <a:xfrm>
            <a:off x="6903720" y="4087368"/>
            <a:ext cx="4709160" cy="786384"/>
          </a:xfrm>
          <a:prstGeom prst="rect">
            <a:avLst/>
          </a:prstGeom>
          <a:noFill/>
          <a:ln/>
        </p:spPr>
        <p:txBody>
          <a:bodyPr wrap="square" lIns="0" tIns="0" rIns="0" bIns="0" rtlCol="0" anchor="t"/>
          <a:lstStyle/>
          <a:p>
            <a:pPr indent="0" marL="0">
              <a:buNone/>
            </a:pPr>
            <a:r>
              <a:rPr lang="en-US" sz="1400" dirty="0">
                <a:solidFill>
                  <a:schemeClr val="tx2"/>
                </a:solidFill>
              </a:rPr>
              <a:t>All runs, summaries, Wilcoxon tests, LaTeX tables, tuned weights, FiDRL tables.</a:t>
            </a:r>
            <a:endParaRPr lang="en-US" sz="1400" dirty="0"/>
          </a:p>
        </p:txBody>
      </p:sp>
      <p:sp>
        <p:nvSpPr>
          <p:cNvPr id="17" name="row 4 circle"/>
          <p:cNvSpPr/>
          <p:nvPr/>
        </p:nvSpPr>
        <p:spPr>
          <a:xfrm>
            <a:off x="6126480" y="4928616"/>
            <a:ext cx="566928" cy="566928"/>
          </a:xfrm>
          <a:prstGeom prst="ellipse">
            <a:avLst/>
          </a:prstGeom>
          <a:solidFill>
            <a:schemeClr val="accent3"/>
          </a:solidFill>
          <a:ln w="12700">
            <a:solidFill>
              <a:schemeClr val="accent3"/>
            </a:solidFill>
            <a:prstDash val="solid"/>
          </a:ln>
        </p:spPr>
      </p:sp>
      <p:pic>
        <p:nvPicPr>
          <p:cNvPr id="18" name="row 4 icon" descr="preencoded.png">    </p:cNvPr>
          <p:cNvPicPr>
            <a:picLocks noChangeAspect="1"/>
          </p:cNvPicPr>
          <p:nvPr/>
        </p:nvPicPr>
        <p:blipFill>
          <a:blip r:embed="rId4"/>
          <a:stretch>
            <a:fillRect/>
          </a:stretch>
        </p:blipFill>
        <p:spPr>
          <a:xfrm>
            <a:off x="6268212" y="5070348"/>
            <a:ext cx="283464" cy="283464"/>
          </a:xfrm>
          <a:prstGeom prst="rect">
            <a:avLst/>
          </a:prstGeom>
        </p:spPr>
      </p:pic>
      <p:sp>
        <p:nvSpPr>
          <p:cNvPr id="19" name="row 4 head"/>
          <p:cNvSpPr txBox="1"/>
          <p:nvPr/>
        </p:nvSpPr>
        <p:spPr>
          <a:xfrm>
            <a:off x="6903720" y="4910328"/>
            <a:ext cx="4709160" cy="347472"/>
          </a:xfrm>
          <a:prstGeom prst="rect">
            <a:avLst/>
          </a:prstGeom>
          <a:noFill/>
          <a:ln/>
        </p:spPr>
        <p:txBody>
          <a:bodyPr wrap="square" lIns="0" tIns="0" rIns="0" bIns="0" rtlCol="0" anchor="ctr"/>
          <a:lstStyle/>
          <a:p>
            <a:pPr indent="0" marL="0">
              <a:buNone/>
            </a:pPr>
            <a:r>
              <a:rPr lang="en-US" sz="1700" b="1" dirty="0">
                <a:solidFill>
                  <a:schemeClr val="tx1"/>
                </a:solidFill>
              </a:rPr>
              <a:t>figures/</a:t>
            </a:r>
            <a:endParaRPr lang="en-US" sz="1700" dirty="0"/>
          </a:p>
        </p:txBody>
      </p:sp>
      <p:sp>
        <p:nvSpPr>
          <p:cNvPr id="20" name="row 4 text"/>
          <p:cNvSpPr txBox="1"/>
          <p:nvPr/>
        </p:nvSpPr>
        <p:spPr>
          <a:xfrm>
            <a:off x="6903720" y="5257800"/>
            <a:ext cx="4709160" cy="786384"/>
          </a:xfrm>
          <a:prstGeom prst="rect">
            <a:avLst/>
          </a:prstGeom>
          <a:noFill/>
          <a:ln/>
        </p:spPr>
        <p:txBody>
          <a:bodyPr wrap="square" lIns="0" tIns="0" rIns="0" bIns="0" rtlCol="0" anchor="t"/>
          <a:lstStyle/>
          <a:p>
            <a:pPr indent="0" marL="0">
              <a:buNone/>
            </a:pPr>
            <a:r>
              <a:rPr lang="en-US" sz="1400" dirty="0">
                <a:solidFill>
                  <a:schemeClr val="tx2"/>
                </a:solidFill>
              </a:rPr>
              <a:t>Final figures A to K at 900 dpi.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Notebook pipeline: Steps 0 to 7</a:t>
            </a:r>
            <a:endParaRPr lang="en-US" sz="3000" dirty="0"/>
          </a:p>
        </p:txBody>
      </p:sp>
      <p:sp>
        <p:nvSpPr>
          <p:cNvPr id="3" name="step card 0"/>
          <p:cNvSpPr/>
          <p:nvPr/>
        </p:nvSpPr>
        <p:spPr>
          <a:xfrm>
            <a:off x="548640" y="1417320"/>
            <a:ext cx="2606040" cy="2057400"/>
          </a:xfrm>
          <a:prstGeom prst="roundRect">
            <a:avLst>
              <a:gd name="adj" fmla="val 3556"/>
            </a:avLst>
          </a:prstGeom>
          <a:solidFill>
            <a:schemeClr val="bg2"/>
          </a:solidFill>
          <a:ln w="12700">
            <a:solidFill>
              <a:schemeClr val="bg2"/>
            </a:solidFill>
            <a:prstDash val="solid"/>
          </a:ln>
        </p:spPr>
      </p:sp>
      <p:sp>
        <p:nvSpPr>
          <p:cNvPr id="4" name="step 0 circle"/>
          <p:cNvSpPr/>
          <p:nvPr/>
        </p:nvSpPr>
        <p:spPr>
          <a:xfrm>
            <a:off x="777240" y="1645920"/>
            <a:ext cx="548640" cy="548640"/>
          </a:xfrm>
          <a:prstGeom prst="ellipse">
            <a:avLst/>
          </a:prstGeom>
          <a:solidFill>
            <a:schemeClr val="accent1"/>
          </a:solidFill>
          <a:ln w="12700">
            <a:solidFill>
              <a:schemeClr val="accent1"/>
            </a:solidFill>
            <a:prstDash val="solid"/>
          </a:ln>
        </p:spPr>
      </p:sp>
      <p:sp>
        <p:nvSpPr>
          <p:cNvPr id="5" name="step 0 number"/>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0</a:t>
            </a:r>
            <a:endParaRPr lang="en-US" sz="1800" dirty="0"/>
          </a:p>
        </p:txBody>
      </p:sp>
      <p:sp>
        <p:nvSpPr>
          <p:cNvPr id="6" name="step 0 head"/>
          <p:cNvSpPr txBox="1"/>
          <p:nvPr/>
        </p:nvSpPr>
        <p:spPr>
          <a:xfrm>
            <a:off x="1463040" y="169164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Setup</a:t>
            </a:r>
            <a:endParaRPr lang="en-US" sz="1600" dirty="0"/>
          </a:p>
        </p:txBody>
      </p:sp>
      <p:sp>
        <p:nvSpPr>
          <p:cNvPr id="7" name="step 0 text"/>
          <p:cNvSpPr txBox="1"/>
          <p:nvPr/>
        </p:nvSpPr>
        <p:spPr>
          <a:xfrm>
            <a:off x="777240" y="2331720"/>
            <a:ext cx="2194560" cy="685800"/>
          </a:xfrm>
          <a:prstGeom prst="rect">
            <a:avLst/>
          </a:prstGeom>
          <a:noFill/>
          <a:ln/>
        </p:spPr>
        <p:txBody>
          <a:bodyPr wrap="square" lIns="0" tIns="0" rIns="0" bIns="0" rtlCol="0" anchor="t"/>
          <a:lstStyle/>
          <a:p>
            <a:pPr indent="0" marL="0">
              <a:buNone/>
            </a:pPr>
            <a:r>
              <a:rPr lang="en-US" sz="1300" dirty="0">
                <a:solidFill>
                  <a:schemeClr val="tx2"/>
                </a:solidFill>
              </a:rPr>
              <a:t>packages, fonts, Hugging Face login</a:t>
            </a:r>
            <a:endParaRPr lang="en-US" sz="1300" dirty="0"/>
          </a:p>
        </p:txBody>
      </p:sp>
      <p:sp>
        <p:nvSpPr>
          <p:cNvPr id="8" name="step 0 time"/>
          <p:cNvSpPr txBox="1"/>
          <p:nvPr/>
        </p:nvSpPr>
        <p:spPr>
          <a:xfrm>
            <a:off x="777240" y="301752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any, 3 to 5 min</a:t>
            </a:r>
            <a:endParaRPr lang="en-US" sz="1200" dirty="0"/>
          </a:p>
        </p:txBody>
      </p:sp>
      <p:sp>
        <p:nvSpPr>
          <p:cNvPr id="9" name="step card 1"/>
          <p:cNvSpPr/>
          <p:nvPr/>
        </p:nvSpPr>
        <p:spPr>
          <a:xfrm>
            <a:off x="3383280" y="1417320"/>
            <a:ext cx="2606040" cy="2057400"/>
          </a:xfrm>
          <a:prstGeom prst="roundRect">
            <a:avLst>
              <a:gd name="adj" fmla="val 3556"/>
            </a:avLst>
          </a:prstGeom>
          <a:solidFill>
            <a:schemeClr val="bg2"/>
          </a:solidFill>
          <a:ln w="12700">
            <a:solidFill>
              <a:schemeClr val="bg2"/>
            </a:solidFill>
            <a:prstDash val="solid"/>
          </a:ln>
        </p:spPr>
      </p:sp>
      <p:sp>
        <p:nvSpPr>
          <p:cNvPr id="10" name="step 1 circle"/>
          <p:cNvSpPr/>
          <p:nvPr/>
        </p:nvSpPr>
        <p:spPr>
          <a:xfrm>
            <a:off x="3611880" y="1645920"/>
            <a:ext cx="548640" cy="548640"/>
          </a:xfrm>
          <a:prstGeom prst="ellipse">
            <a:avLst/>
          </a:prstGeom>
          <a:solidFill>
            <a:schemeClr val="accent3"/>
          </a:solidFill>
          <a:ln w="12700">
            <a:solidFill>
              <a:schemeClr val="accent3"/>
            </a:solidFill>
            <a:prstDash val="solid"/>
          </a:ln>
        </p:spPr>
      </p:sp>
      <p:sp>
        <p:nvSpPr>
          <p:cNvPr id="11" name="step 1 number"/>
          <p:cNvSpPr txBox="1"/>
          <p:nvPr/>
        </p:nvSpPr>
        <p:spPr>
          <a:xfrm>
            <a:off x="361188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2" name="step 1 head"/>
          <p:cNvSpPr txBox="1"/>
          <p:nvPr/>
        </p:nvSpPr>
        <p:spPr>
          <a:xfrm>
            <a:off x="4297680" y="169164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Model profile</a:t>
            </a:r>
            <a:endParaRPr lang="en-US" sz="1600" dirty="0"/>
          </a:p>
        </p:txBody>
      </p:sp>
      <p:sp>
        <p:nvSpPr>
          <p:cNvPr id="13" name="step 1 text"/>
          <p:cNvSpPr txBox="1"/>
          <p:nvPr/>
        </p:nvSpPr>
        <p:spPr>
          <a:xfrm>
            <a:off x="3611880" y="2331720"/>
            <a:ext cx="2194560" cy="685800"/>
          </a:xfrm>
          <a:prstGeom prst="rect">
            <a:avLst/>
          </a:prstGeom>
          <a:noFill/>
          <a:ln/>
        </p:spPr>
        <p:txBody>
          <a:bodyPr wrap="square" lIns="0" tIns="0" rIns="0" bIns="0" rtlCol="0" anchor="t"/>
          <a:lstStyle/>
          <a:p>
            <a:pPr indent="0" marL="0">
              <a:buNone/>
            </a:pPr>
            <a:r>
              <a:rPr lang="en-US" sz="1300" dirty="0">
                <a:solidFill>
                  <a:schemeClr val="tx2"/>
                </a:solidFill>
              </a:rPr>
              <a:t>OLMoE perplexity per k, router union</a:t>
            </a:r>
            <a:endParaRPr lang="en-US" sz="1300" dirty="0"/>
          </a:p>
        </p:txBody>
      </p:sp>
      <p:sp>
        <p:nvSpPr>
          <p:cNvPr id="14" name="step 1 time"/>
          <p:cNvSpPr txBox="1"/>
          <p:nvPr/>
        </p:nvSpPr>
        <p:spPr>
          <a:xfrm>
            <a:off x="3611880" y="301752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GPU, 20 to 40 min</a:t>
            </a:r>
            <a:endParaRPr lang="en-US" sz="1200" dirty="0"/>
          </a:p>
        </p:txBody>
      </p:sp>
      <p:sp>
        <p:nvSpPr>
          <p:cNvPr id="15" name="step card 2"/>
          <p:cNvSpPr/>
          <p:nvPr/>
        </p:nvSpPr>
        <p:spPr>
          <a:xfrm>
            <a:off x="6217920" y="1417320"/>
            <a:ext cx="2606040" cy="2057400"/>
          </a:xfrm>
          <a:prstGeom prst="roundRect">
            <a:avLst>
              <a:gd name="adj" fmla="val 3556"/>
            </a:avLst>
          </a:prstGeom>
          <a:solidFill>
            <a:schemeClr val="bg2"/>
          </a:solidFill>
          <a:ln w="12700">
            <a:solidFill>
              <a:schemeClr val="bg2"/>
            </a:solidFill>
            <a:prstDash val="solid"/>
          </a:ln>
        </p:spPr>
      </p:sp>
      <p:sp>
        <p:nvSpPr>
          <p:cNvPr id="16" name="step 2 circle"/>
          <p:cNvSpPr/>
          <p:nvPr/>
        </p:nvSpPr>
        <p:spPr>
          <a:xfrm>
            <a:off x="6446520" y="1645920"/>
            <a:ext cx="548640" cy="548640"/>
          </a:xfrm>
          <a:prstGeom prst="ellipse">
            <a:avLst/>
          </a:prstGeom>
          <a:solidFill>
            <a:schemeClr val="accent3"/>
          </a:solidFill>
          <a:ln w="12700">
            <a:solidFill>
              <a:schemeClr val="accent3"/>
            </a:solidFill>
            <a:prstDash val="solid"/>
          </a:ln>
        </p:spPr>
      </p:sp>
      <p:sp>
        <p:nvSpPr>
          <p:cNvPr id="17" name="step 2 number"/>
          <p:cNvSpPr txBox="1"/>
          <p:nvPr/>
        </p:nvSpPr>
        <p:spPr>
          <a:xfrm>
            <a:off x="644652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8" name="step 2 head"/>
          <p:cNvSpPr txBox="1"/>
          <p:nvPr/>
        </p:nvSpPr>
        <p:spPr>
          <a:xfrm>
            <a:off x="7132320" y="169164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Request lengths</a:t>
            </a:r>
            <a:endParaRPr lang="en-US" sz="1600" dirty="0"/>
          </a:p>
        </p:txBody>
      </p:sp>
      <p:sp>
        <p:nvSpPr>
          <p:cNvPr id="19" name="step 2 text"/>
          <p:cNvSpPr txBox="1"/>
          <p:nvPr/>
        </p:nvSpPr>
        <p:spPr>
          <a:xfrm>
            <a:off x="6446520" y="2331720"/>
            <a:ext cx="2194560" cy="685800"/>
          </a:xfrm>
          <a:prstGeom prst="rect">
            <a:avLst/>
          </a:prstGeom>
          <a:noFill/>
          <a:ln/>
        </p:spPr>
        <p:txBody>
          <a:bodyPr wrap="square" lIns="0" tIns="0" rIns="0" bIns="0" rtlCol="0" anchor="t"/>
          <a:lstStyle/>
          <a:p>
            <a:pPr indent="0" marL="0">
              <a:buNone/>
            </a:pPr>
            <a:r>
              <a:rPr lang="en-US" sz="1300" dirty="0">
                <a:solidFill>
                  <a:schemeClr val="tx2"/>
                </a:solidFill>
              </a:rPr>
              <a:t>LMSYS Chat 1M with OLMoE tokenizer</a:t>
            </a:r>
            <a:endParaRPr lang="en-US" sz="1300" dirty="0"/>
          </a:p>
        </p:txBody>
      </p:sp>
      <p:sp>
        <p:nvSpPr>
          <p:cNvPr id="20" name="step 2 time"/>
          <p:cNvSpPr txBox="1"/>
          <p:nvPr/>
        </p:nvSpPr>
        <p:spPr>
          <a:xfrm>
            <a:off x="6446520" y="301752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any, 5 to 15 min</a:t>
            </a:r>
            <a:endParaRPr lang="en-US" sz="1200" dirty="0"/>
          </a:p>
        </p:txBody>
      </p:sp>
      <p:sp>
        <p:nvSpPr>
          <p:cNvPr id="21" name="step card 3"/>
          <p:cNvSpPr/>
          <p:nvPr/>
        </p:nvSpPr>
        <p:spPr>
          <a:xfrm>
            <a:off x="9052560" y="1417320"/>
            <a:ext cx="2606040" cy="2057400"/>
          </a:xfrm>
          <a:prstGeom prst="roundRect">
            <a:avLst>
              <a:gd name="adj" fmla="val 3556"/>
            </a:avLst>
          </a:prstGeom>
          <a:solidFill>
            <a:schemeClr val="bg2"/>
          </a:solidFill>
          <a:ln w="12700">
            <a:solidFill>
              <a:schemeClr val="bg2"/>
            </a:solidFill>
            <a:prstDash val="solid"/>
          </a:ln>
        </p:spPr>
      </p:sp>
      <p:sp>
        <p:nvSpPr>
          <p:cNvPr id="22" name="step 3 circle"/>
          <p:cNvSpPr/>
          <p:nvPr/>
        </p:nvSpPr>
        <p:spPr>
          <a:xfrm>
            <a:off x="9281160" y="1645920"/>
            <a:ext cx="548640" cy="548640"/>
          </a:xfrm>
          <a:prstGeom prst="ellipse">
            <a:avLst/>
          </a:prstGeom>
          <a:solidFill>
            <a:schemeClr val="accent1"/>
          </a:solidFill>
          <a:ln w="12700">
            <a:solidFill>
              <a:schemeClr val="accent1"/>
            </a:solidFill>
            <a:prstDash val="solid"/>
          </a:ln>
        </p:spPr>
      </p:sp>
      <p:sp>
        <p:nvSpPr>
          <p:cNvPr id="23" name="step 3 number"/>
          <p:cNvSpPr txBox="1"/>
          <p:nvPr/>
        </p:nvSpPr>
        <p:spPr>
          <a:xfrm>
            <a:off x="9281160" y="16459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4" name="step 3 head"/>
          <p:cNvSpPr txBox="1"/>
          <p:nvPr/>
        </p:nvSpPr>
        <p:spPr>
          <a:xfrm>
            <a:off x="9966960" y="169164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Sanity checks</a:t>
            </a:r>
            <a:endParaRPr lang="en-US" sz="1600" dirty="0"/>
          </a:p>
        </p:txBody>
      </p:sp>
      <p:sp>
        <p:nvSpPr>
          <p:cNvPr id="25" name="step 3 text"/>
          <p:cNvSpPr txBox="1"/>
          <p:nvPr/>
        </p:nvSpPr>
        <p:spPr>
          <a:xfrm>
            <a:off x="9281160" y="2331720"/>
            <a:ext cx="2194560" cy="685800"/>
          </a:xfrm>
          <a:prstGeom prst="rect">
            <a:avLst/>
          </a:prstGeom>
          <a:noFill/>
          <a:ln/>
        </p:spPr>
        <p:txBody>
          <a:bodyPr wrap="square" lIns="0" tIns="0" rIns="0" bIns="0" rtlCol="0" anchor="t"/>
          <a:lstStyle/>
          <a:p>
            <a:pPr indent="0" marL="0">
              <a:buNone/>
            </a:pPr>
            <a:r>
              <a:rPr lang="en-US" sz="1300" dirty="0">
                <a:solidFill>
                  <a:schemeClr val="tx2"/>
                </a:solidFill>
              </a:rPr>
              <a:t>simulator numbers before the grid</a:t>
            </a:r>
            <a:endParaRPr lang="en-US" sz="1300" dirty="0"/>
          </a:p>
        </p:txBody>
      </p:sp>
      <p:sp>
        <p:nvSpPr>
          <p:cNvPr id="26" name="step 3 time"/>
          <p:cNvSpPr txBox="1"/>
          <p:nvPr/>
        </p:nvSpPr>
        <p:spPr>
          <a:xfrm>
            <a:off x="9281160" y="301752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CPU, 1 min</a:t>
            </a:r>
            <a:endParaRPr lang="en-US" sz="1200" dirty="0"/>
          </a:p>
        </p:txBody>
      </p:sp>
      <p:sp>
        <p:nvSpPr>
          <p:cNvPr id="27" name="step card 4"/>
          <p:cNvSpPr/>
          <p:nvPr/>
        </p:nvSpPr>
        <p:spPr>
          <a:xfrm>
            <a:off x="548640" y="3749040"/>
            <a:ext cx="2606040" cy="2057400"/>
          </a:xfrm>
          <a:prstGeom prst="roundRect">
            <a:avLst>
              <a:gd name="adj" fmla="val 3556"/>
            </a:avLst>
          </a:prstGeom>
          <a:solidFill>
            <a:schemeClr val="bg2"/>
          </a:solidFill>
          <a:ln w="12700">
            <a:solidFill>
              <a:schemeClr val="bg2"/>
            </a:solidFill>
            <a:prstDash val="solid"/>
          </a:ln>
        </p:spPr>
      </p:sp>
      <p:sp>
        <p:nvSpPr>
          <p:cNvPr id="28" name="step 4 circle"/>
          <p:cNvSpPr/>
          <p:nvPr/>
        </p:nvSpPr>
        <p:spPr>
          <a:xfrm>
            <a:off x="777240" y="3977640"/>
            <a:ext cx="548640" cy="548640"/>
          </a:xfrm>
          <a:prstGeom prst="ellipse">
            <a:avLst/>
          </a:prstGeom>
          <a:solidFill>
            <a:schemeClr val="accent1"/>
          </a:solidFill>
          <a:ln w="12700">
            <a:solidFill>
              <a:schemeClr val="accent1"/>
            </a:solidFill>
            <a:prstDash val="solid"/>
          </a:ln>
        </p:spPr>
      </p:sp>
      <p:sp>
        <p:nvSpPr>
          <p:cNvPr id="29" name="step 4 number"/>
          <p:cNvSpPr txBox="1"/>
          <p:nvPr/>
        </p:nvSpPr>
        <p:spPr>
          <a:xfrm>
            <a:off x="777240" y="3977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0" name="step 4 head"/>
          <p:cNvSpPr txBox="1"/>
          <p:nvPr/>
        </p:nvSpPr>
        <p:spPr>
          <a:xfrm>
            <a:off x="1463040" y="402336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Experiments</a:t>
            </a:r>
            <a:endParaRPr lang="en-US" sz="1600" dirty="0"/>
          </a:p>
        </p:txBody>
      </p:sp>
      <p:sp>
        <p:nvSpPr>
          <p:cNvPr id="31" name="step 4 text"/>
          <p:cNvSpPr txBox="1"/>
          <p:nvPr/>
        </p:nvSpPr>
        <p:spPr>
          <a:xfrm>
            <a:off x="777240" y="4663440"/>
            <a:ext cx="2194560" cy="685800"/>
          </a:xfrm>
          <a:prstGeom prst="rect">
            <a:avLst/>
          </a:prstGeom>
          <a:noFill/>
          <a:ln/>
        </p:spPr>
        <p:txBody>
          <a:bodyPr wrap="square" lIns="0" tIns="0" rIns="0" bIns="0" rtlCol="0" anchor="t"/>
          <a:lstStyle/>
          <a:p>
            <a:pPr indent="0" marL="0">
              <a:buNone/>
            </a:pPr>
            <a:r>
              <a:rPr lang="en-US" sz="1300" dirty="0">
                <a:solidFill>
                  <a:schemeClr val="tx2"/>
                </a:solidFill>
              </a:rPr>
              <a:t>weight tuning, FiDRL training, full grid</a:t>
            </a:r>
            <a:endParaRPr lang="en-US" sz="1300" dirty="0"/>
          </a:p>
        </p:txBody>
      </p:sp>
      <p:sp>
        <p:nvSpPr>
          <p:cNvPr id="32" name="step 4 time"/>
          <p:cNvSpPr txBox="1"/>
          <p:nvPr/>
        </p:nvSpPr>
        <p:spPr>
          <a:xfrm>
            <a:off x="777240" y="534924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CPU, 30 to 60 min</a:t>
            </a:r>
            <a:endParaRPr lang="en-US" sz="1200" dirty="0"/>
          </a:p>
        </p:txBody>
      </p:sp>
      <p:sp>
        <p:nvSpPr>
          <p:cNvPr id="33" name="step card 5"/>
          <p:cNvSpPr/>
          <p:nvPr/>
        </p:nvSpPr>
        <p:spPr>
          <a:xfrm>
            <a:off x="3383280" y="3749040"/>
            <a:ext cx="2606040" cy="2057400"/>
          </a:xfrm>
          <a:prstGeom prst="roundRect">
            <a:avLst>
              <a:gd name="adj" fmla="val 3556"/>
            </a:avLst>
          </a:prstGeom>
          <a:solidFill>
            <a:schemeClr val="bg2"/>
          </a:solidFill>
          <a:ln w="12700">
            <a:solidFill>
              <a:schemeClr val="bg2"/>
            </a:solidFill>
            <a:prstDash val="solid"/>
          </a:ln>
        </p:spPr>
      </p:sp>
      <p:sp>
        <p:nvSpPr>
          <p:cNvPr id="34" name="step 5 circle"/>
          <p:cNvSpPr/>
          <p:nvPr/>
        </p:nvSpPr>
        <p:spPr>
          <a:xfrm>
            <a:off x="3611880" y="3977640"/>
            <a:ext cx="548640" cy="548640"/>
          </a:xfrm>
          <a:prstGeom prst="ellipse">
            <a:avLst/>
          </a:prstGeom>
          <a:solidFill>
            <a:schemeClr val="accent1"/>
          </a:solidFill>
          <a:ln w="12700">
            <a:solidFill>
              <a:schemeClr val="accent1"/>
            </a:solidFill>
            <a:prstDash val="solid"/>
          </a:ln>
        </p:spPr>
      </p:sp>
      <p:sp>
        <p:nvSpPr>
          <p:cNvPr id="35" name="step 5 number"/>
          <p:cNvSpPr txBox="1"/>
          <p:nvPr/>
        </p:nvSpPr>
        <p:spPr>
          <a:xfrm>
            <a:off x="3611880" y="3977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6" name="step 5 head"/>
          <p:cNvSpPr txBox="1"/>
          <p:nvPr/>
        </p:nvSpPr>
        <p:spPr>
          <a:xfrm>
            <a:off x="4297680" y="402336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Statistics</a:t>
            </a:r>
            <a:endParaRPr lang="en-US" sz="1600" dirty="0"/>
          </a:p>
        </p:txBody>
      </p:sp>
      <p:sp>
        <p:nvSpPr>
          <p:cNvPr id="37" name="step 5 text"/>
          <p:cNvSpPr txBox="1"/>
          <p:nvPr/>
        </p:nvSpPr>
        <p:spPr>
          <a:xfrm>
            <a:off x="3611880" y="4663440"/>
            <a:ext cx="2194560" cy="685800"/>
          </a:xfrm>
          <a:prstGeom prst="rect">
            <a:avLst/>
          </a:prstGeom>
          <a:noFill/>
          <a:ln/>
        </p:spPr>
        <p:txBody>
          <a:bodyPr wrap="square" lIns="0" tIns="0" rIns="0" bIns="0" rtlCol="0" anchor="t"/>
          <a:lstStyle/>
          <a:p>
            <a:pPr indent="0" marL="0">
              <a:buNone/>
            </a:pPr>
            <a:r>
              <a:rPr lang="en-US" sz="1300" dirty="0">
                <a:solidFill>
                  <a:schemeClr val="tx2"/>
                </a:solidFill>
              </a:rPr>
              <a:t>LaTeX tables, Wilcoxon with Holm</a:t>
            </a:r>
            <a:endParaRPr lang="en-US" sz="1300" dirty="0"/>
          </a:p>
        </p:txBody>
      </p:sp>
      <p:sp>
        <p:nvSpPr>
          <p:cNvPr id="38" name="step 5 time"/>
          <p:cNvSpPr txBox="1"/>
          <p:nvPr/>
        </p:nvSpPr>
        <p:spPr>
          <a:xfrm>
            <a:off x="3611880" y="534924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CPU, 1 min</a:t>
            </a:r>
            <a:endParaRPr lang="en-US" sz="1200" dirty="0"/>
          </a:p>
        </p:txBody>
      </p:sp>
      <p:sp>
        <p:nvSpPr>
          <p:cNvPr id="39" name="step card 6"/>
          <p:cNvSpPr/>
          <p:nvPr/>
        </p:nvSpPr>
        <p:spPr>
          <a:xfrm>
            <a:off x="6217920" y="3749040"/>
            <a:ext cx="2606040" cy="2057400"/>
          </a:xfrm>
          <a:prstGeom prst="roundRect">
            <a:avLst>
              <a:gd name="adj" fmla="val 3556"/>
            </a:avLst>
          </a:prstGeom>
          <a:solidFill>
            <a:schemeClr val="bg2"/>
          </a:solidFill>
          <a:ln w="12700">
            <a:solidFill>
              <a:schemeClr val="bg2"/>
            </a:solidFill>
            <a:prstDash val="solid"/>
          </a:ln>
        </p:spPr>
      </p:sp>
      <p:sp>
        <p:nvSpPr>
          <p:cNvPr id="40" name="step 6 circle"/>
          <p:cNvSpPr/>
          <p:nvPr/>
        </p:nvSpPr>
        <p:spPr>
          <a:xfrm>
            <a:off x="6446520" y="3977640"/>
            <a:ext cx="548640" cy="548640"/>
          </a:xfrm>
          <a:prstGeom prst="ellipse">
            <a:avLst/>
          </a:prstGeom>
          <a:solidFill>
            <a:schemeClr val="accent1"/>
          </a:solidFill>
          <a:ln w="12700">
            <a:solidFill>
              <a:schemeClr val="accent1"/>
            </a:solidFill>
            <a:prstDash val="solid"/>
          </a:ln>
        </p:spPr>
      </p:sp>
      <p:sp>
        <p:nvSpPr>
          <p:cNvPr id="41" name="step 6 number"/>
          <p:cNvSpPr txBox="1"/>
          <p:nvPr/>
        </p:nvSpPr>
        <p:spPr>
          <a:xfrm>
            <a:off x="6446520" y="3977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42" name="step 6 head"/>
          <p:cNvSpPr txBox="1"/>
          <p:nvPr/>
        </p:nvSpPr>
        <p:spPr>
          <a:xfrm>
            <a:off x="7132320" y="402336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Figures</a:t>
            </a:r>
            <a:endParaRPr lang="en-US" sz="1600" dirty="0"/>
          </a:p>
        </p:txBody>
      </p:sp>
      <p:sp>
        <p:nvSpPr>
          <p:cNvPr id="43" name="step 6 text"/>
          <p:cNvSpPr txBox="1"/>
          <p:nvPr/>
        </p:nvSpPr>
        <p:spPr>
          <a:xfrm>
            <a:off x="6446520" y="4663440"/>
            <a:ext cx="2194560" cy="685800"/>
          </a:xfrm>
          <a:prstGeom prst="rect">
            <a:avLst/>
          </a:prstGeom>
          <a:noFill/>
          <a:ln/>
        </p:spPr>
        <p:txBody>
          <a:bodyPr wrap="square" lIns="0" tIns="0" rIns="0" bIns="0" rtlCol="0" anchor="t"/>
          <a:lstStyle/>
          <a:p>
            <a:pPr indent="0" marL="0">
              <a:buNone/>
            </a:pPr>
            <a:r>
              <a:rPr lang="en-US" sz="1300" dirty="0">
                <a:solidFill>
                  <a:schemeClr val="tx2"/>
                </a:solidFill>
              </a:rPr>
              <a:t>PNG and PDF; Step 6b final versions</a:t>
            </a:r>
            <a:endParaRPr lang="en-US" sz="1300" dirty="0"/>
          </a:p>
        </p:txBody>
      </p:sp>
      <p:sp>
        <p:nvSpPr>
          <p:cNvPr id="44" name="step 6 time"/>
          <p:cNvSpPr txBox="1"/>
          <p:nvPr/>
        </p:nvSpPr>
        <p:spPr>
          <a:xfrm>
            <a:off x="6446520" y="534924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CPU, 2 min</a:t>
            </a:r>
            <a:endParaRPr lang="en-US" sz="1200" dirty="0"/>
          </a:p>
        </p:txBody>
      </p:sp>
      <p:sp>
        <p:nvSpPr>
          <p:cNvPr id="45" name="step card 7"/>
          <p:cNvSpPr/>
          <p:nvPr/>
        </p:nvSpPr>
        <p:spPr>
          <a:xfrm>
            <a:off x="9052560" y="3749040"/>
            <a:ext cx="2606040" cy="2057400"/>
          </a:xfrm>
          <a:prstGeom prst="roundRect">
            <a:avLst>
              <a:gd name="adj" fmla="val 3556"/>
            </a:avLst>
          </a:prstGeom>
          <a:solidFill>
            <a:schemeClr val="bg2"/>
          </a:solidFill>
          <a:ln w="12700">
            <a:solidFill>
              <a:schemeClr val="bg2"/>
            </a:solidFill>
            <a:prstDash val="solid"/>
          </a:ln>
        </p:spPr>
      </p:sp>
      <p:sp>
        <p:nvSpPr>
          <p:cNvPr id="46" name="step 7 circle"/>
          <p:cNvSpPr/>
          <p:nvPr/>
        </p:nvSpPr>
        <p:spPr>
          <a:xfrm>
            <a:off x="9281160" y="3977640"/>
            <a:ext cx="548640" cy="548640"/>
          </a:xfrm>
          <a:prstGeom prst="ellipse">
            <a:avLst/>
          </a:prstGeom>
          <a:solidFill>
            <a:schemeClr val="accent1"/>
          </a:solidFill>
          <a:ln w="12700">
            <a:solidFill>
              <a:schemeClr val="accent1"/>
            </a:solidFill>
            <a:prstDash val="solid"/>
          </a:ln>
        </p:spPr>
      </p:sp>
      <p:sp>
        <p:nvSpPr>
          <p:cNvPr id="47" name="step 7 number"/>
          <p:cNvSpPr txBox="1"/>
          <p:nvPr/>
        </p:nvSpPr>
        <p:spPr>
          <a:xfrm>
            <a:off x="9281160" y="3977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48" name="step 7 head"/>
          <p:cNvSpPr txBox="1"/>
          <p:nvPr/>
        </p:nvSpPr>
        <p:spPr>
          <a:xfrm>
            <a:off x="9966960" y="4023360"/>
            <a:ext cx="1554480" cy="457200"/>
          </a:xfrm>
          <a:prstGeom prst="rect">
            <a:avLst/>
          </a:prstGeom>
          <a:noFill/>
          <a:ln/>
        </p:spPr>
        <p:txBody>
          <a:bodyPr wrap="square" lIns="0" tIns="0" rIns="0" bIns="0" rtlCol="0" anchor="ctr"/>
          <a:lstStyle/>
          <a:p>
            <a:pPr indent="0" marL="0">
              <a:buNone/>
            </a:pPr>
            <a:r>
              <a:rPr lang="en-US" sz="1600" b="1" dirty="0">
                <a:solidFill>
                  <a:schemeClr val="tx1"/>
                </a:solidFill>
              </a:rPr>
              <a:t>Claim check</a:t>
            </a:r>
            <a:endParaRPr lang="en-US" sz="1600" dirty="0"/>
          </a:p>
        </p:txBody>
      </p:sp>
      <p:sp>
        <p:nvSpPr>
          <p:cNvPr id="49" name="step 7 text"/>
          <p:cNvSpPr txBox="1"/>
          <p:nvPr/>
        </p:nvSpPr>
        <p:spPr>
          <a:xfrm>
            <a:off x="9281160" y="4663440"/>
            <a:ext cx="2194560" cy="685800"/>
          </a:xfrm>
          <a:prstGeom prst="rect">
            <a:avLst/>
          </a:prstGeom>
          <a:noFill/>
          <a:ln/>
        </p:spPr>
        <p:txBody>
          <a:bodyPr wrap="square" lIns="0" tIns="0" rIns="0" bIns="0" rtlCol="0" anchor="t"/>
          <a:lstStyle/>
          <a:p>
            <a:pPr indent="0" marL="0">
              <a:buNone/>
            </a:pPr>
            <a:r>
              <a:rPr lang="en-US" sz="1300" dirty="0">
                <a:solidFill>
                  <a:schemeClr val="tx2"/>
                </a:solidFill>
              </a:rPr>
              <a:t>abstract claims against the tests</a:t>
            </a:r>
            <a:endParaRPr lang="en-US" sz="1300" dirty="0"/>
          </a:p>
        </p:txBody>
      </p:sp>
      <p:sp>
        <p:nvSpPr>
          <p:cNvPr id="50" name="step 7 time"/>
          <p:cNvSpPr txBox="1"/>
          <p:nvPr/>
        </p:nvSpPr>
        <p:spPr>
          <a:xfrm>
            <a:off x="9281160" y="5349240"/>
            <a:ext cx="2194560" cy="320040"/>
          </a:xfrm>
          <a:prstGeom prst="rect">
            <a:avLst/>
          </a:prstGeom>
          <a:noFill/>
          <a:ln/>
        </p:spPr>
        <p:txBody>
          <a:bodyPr wrap="square" lIns="0" tIns="0" rIns="0" bIns="0" rtlCol="0" anchor="ctr"/>
          <a:lstStyle/>
          <a:p>
            <a:pPr indent="0" marL="0">
              <a:buNone/>
            </a:pPr>
            <a:r>
              <a:rPr lang="en-US" sz="1200" i="1" dirty="0">
                <a:solidFill>
                  <a:schemeClr val="accent5"/>
                </a:solidFill>
              </a:rPr>
              <a:t>CPU, 1 min</a:t>
            </a:r>
            <a:endParaRPr lang="en-US" sz="1200" dirty="0"/>
          </a:p>
        </p:txBody>
      </p:sp>
      <p:sp>
        <p:nvSpPr>
          <p:cNvPr id="51" name="pipeline note"/>
          <p:cNvSpPr txBox="1"/>
          <p:nvPr/>
        </p:nvSpPr>
        <p:spPr>
          <a:xfrm>
            <a:off x="548640" y="6035040"/>
            <a:ext cx="11064240" cy="320040"/>
          </a:xfrm>
          <a:prstGeom prst="rect">
            <a:avLst/>
          </a:prstGeom>
          <a:noFill/>
          <a:ln/>
        </p:spPr>
        <p:txBody>
          <a:bodyPr wrap="square" lIns="0" tIns="0" rIns="0" bIns="0" rtlCol="0" anchor="ctr"/>
          <a:lstStyle/>
          <a:p>
            <a:pPr indent="0" marL="0">
              <a:buNone/>
            </a:pPr>
            <a:r>
              <a:rPr lang="en-US" sz="1300" dirty="0">
                <a:solidFill>
                  <a:schemeClr val="tx2"/>
                </a:solidFill>
              </a:rPr>
              <a:t>Blue steps are already done: their outputs ship in data/, so you can start at Step 3.</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Quick start: regenerate tables and figures</a:t>
            </a:r>
            <a:endParaRPr lang="en-US" sz="3000" dirty="0"/>
          </a:p>
        </p:txBody>
      </p:sp>
      <p:sp>
        <p:nvSpPr>
          <p:cNvPr id="3" name="code panel"/>
          <p:cNvSpPr/>
          <p:nvPr/>
        </p:nvSpPr>
        <p:spPr>
          <a:xfrm>
            <a:off x="548640" y="1371600"/>
            <a:ext cx="6949440" cy="3566160"/>
          </a:xfrm>
          <a:prstGeom prst="roundRect">
            <a:avLst>
              <a:gd name="adj" fmla="val 2051"/>
            </a:avLst>
          </a:prstGeom>
          <a:solidFill>
            <a:schemeClr val="tx1"/>
          </a:solidFill>
          <a:ln w="12700">
            <a:solidFill>
              <a:schemeClr val="tx1"/>
            </a:solidFill>
            <a:prstDash val="solid"/>
          </a:ln>
        </p:spPr>
      </p:sp>
      <p:sp>
        <p:nvSpPr>
          <p:cNvPr id="4" name="commands"/>
          <p:cNvSpPr txBox="1"/>
          <p:nvPr/>
        </p:nvSpPr>
        <p:spPr>
          <a:xfrm>
            <a:off x="822960" y="1600200"/>
            <a:ext cx="6492240" cy="320040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git clone &lt;repository URL&gt;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cd ThermoRoute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pip install -r requirements.txt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cd results &amp;&amp; unzip raw_runs.zip &amp;&amp; cd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export TR_ROOT=$PWD</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export TR_FIG_DIR=$PWD/figures_new</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cd sim</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python -c "import stats_tables; stats_tables.main()"</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python -c "import figs; figs.make_all()"</a:t>
            </a:r>
            <a:endParaRPr lang="en-US" sz="1400" dirty="0"/>
          </a:p>
        </p:txBody>
      </p:sp>
      <p:sp>
        <p:nvSpPr>
          <p:cNvPr id="5" name="row 1 circle"/>
          <p:cNvSpPr/>
          <p:nvPr/>
        </p:nvSpPr>
        <p:spPr>
          <a:xfrm>
            <a:off x="7863840" y="1417320"/>
            <a:ext cx="566928" cy="566928"/>
          </a:xfrm>
          <a:prstGeom prst="ellipse">
            <a:avLst/>
          </a:prstGeom>
          <a:solidFill>
            <a:schemeClr val="accent1"/>
          </a:solidFill>
          <a:ln w="12700">
            <a:solidFill>
              <a:schemeClr val="accent1"/>
            </a:solidFill>
            <a:prstDash val="solid"/>
          </a:ln>
        </p:spPr>
      </p:sp>
      <p:pic>
        <p:nvPicPr>
          <p:cNvPr id="6" name="row 1 icon" descr="preencoded.png">    </p:cNvPr>
          <p:cNvPicPr>
            <a:picLocks noChangeAspect="1"/>
          </p:cNvPicPr>
          <p:nvPr/>
        </p:nvPicPr>
        <p:blipFill>
          <a:blip r:embed="rId1"/>
          <a:stretch>
            <a:fillRect/>
          </a:stretch>
        </p:blipFill>
        <p:spPr>
          <a:xfrm>
            <a:off x="8005572" y="1559052"/>
            <a:ext cx="283464" cy="283464"/>
          </a:xfrm>
          <a:prstGeom prst="rect">
            <a:avLst/>
          </a:prstGeom>
        </p:spPr>
      </p:pic>
      <p:sp>
        <p:nvSpPr>
          <p:cNvPr id="7" name="row 1 head"/>
          <p:cNvSpPr txBox="1"/>
          <p:nvPr/>
        </p:nvSpPr>
        <p:spPr>
          <a:xfrm>
            <a:off x="8641080" y="1399032"/>
            <a:ext cx="2971800" cy="347472"/>
          </a:xfrm>
          <a:prstGeom prst="rect">
            <a:avLst/>
          </a:prstGeom>
          <a:noFill/>
          <a:ln/>
        </p:spPr>
        <p:txBody>
          <a:bodyPr wrap="square" lIns="0" tIns="0" rIns="0" bIns="0" rtlCol="0" anchor="ctr"/>
          <a:lstStyle/>
          <a:p>
            <a:pPr indent="0" marL="0">
              <a:buNone/>
            </a:pPr>
            <a:r>
              <a:rPr lang="en-US" sz="1700" b="1" dirty="0">
                <a:solidFill>
                  <a:schemeClr val="tx1"/>
                </a:solidFill>
              </a:rPr>
              <a:t>Minimal dependencies</a:t>
            </a:r>
            <a:endParaRPr lang="en-US" sz="1700" dirty="0"/>
          </a:p>
        </p:txBody>
      </p:sp>
      <p:sp>
        <p:nvSpPr>
          <p:cNvPr id="8" name="row 1 text"/>
          <p:cNvSpPr txBox="1"/>
          <p:nvPr/>
        </p:nvSpPr>
        <p:spPr>
          <a:xfrm>
            <a:off x="8641080" y="1746504"/>
            <a:ext cx="2971800" cy="1078992"/>
          </a:xfrm>
          <a:prstGeom prst="rect">
            <a:avLst/>
          </a:prstGeom>
          <a:noFill/>
          <a:ln/>
        </p:spPr>
        <p:txBody>
          <a:bodyPr wrap="square" lIns="0" tIns="0" rIns="0" bIns="0" rtlCol="0" anchor="t"/>
          <a:lstStyle/>
          <a:p>
            <a:pPr indent="0" marL="0">
              <a:buNone/>
            </a:pPr>
            <a:r>
              <a:rPr lang="en-US" sz="1400" dirty="0">
                <a:solidFill>
                  <a:schemeClr val="tx2"/>
                </a:solidFill>
              </a:rPr>
              <a:t>numpy, scipy, pandas, and matplotlib are enough to rerun the simulator and redraw figures.</a:t>
            </a:r>
            <a:endParaRPr lang="en-US" sz="1400" dirty="0"/>
          </a:p>
        </p:txBody>
      </p:sp>
      <p:sp>
        <p:nvSpPr>
          <p:cNvPr id="9" name="row 2 circle"/>
          <p:cNvSpPr/>
          <p:nvPr/>
        </p:nvSpPr>
        <p:spPr>
          <a:xfrm>
            <a:off x="7863840" y="2880360"/>
            <a:ext cx="566928" cy="566928"/>
          </a:xfrm>
          <a:prstGeom prst="ellipse">
            <a:avLst/>
          </a:prstGeom>
          <a:solidFill>
            <a:schemeClr val="accent1"/>
          </a:solidFill>
          <a:ln w="12700">
            <a:solidFill>
              <a:schemeClr val="accent1"/>
            </a:solidFill>
            <a:prstDash val="solid"/>
          </a:ln>
        </p:spPr>
      </p:sp>
      <p:pic>
        <p:nvPicPr>
          <p:cNvPr id="10" name="row 2 icon" descr="preencoded.png">    </p:cNvPr>
          <p:cNvPicPr>
            <a:picLocks noChangeAspect="1"/>
          </p:cNvPicPr>
          <p:nvPr/>
        </p:nvPicPr>
        <p:blipFill>
          <a:blip r:embed="rId2"/>
          <a:stretch>
            <a:fillRect/>
          </a:stretch>
        </p:blipFill>
        <p:spPr>
          <a:xfrm>
            <a:off x="8005572" y="3022092"/>
            <a:ext cx="283464" cy="283464"/>
          </a:xfrm>
          <a:prstGeom prst="rect">
            <a:avLst/>
          </a:prstGeom>
        </p:spPr>
      </p:pic>
      <p:sp>
        <p:nvSpPr>
          <p:cNvPr id="11" name="row 2 head"/>
          <p:cNvSpPr txBox="1"/>
          <p:nvPr/>
        </p:nvSpPr>
        <p:spPr>
          <a:xfrm>
            <a:off x="8641080" y="2862072"/>
            <a:ext cx="2971800" cy="347472"/>
          </a:xfrm>
          <a:prstGeom prst="rect">
            <a:avLst/>
          </a:prstGeom>
          <a:noFill/>
          <a:ln/>
        </p:spPr>
        <p:txBody>
          <a:bodyPr wrap="square" lIns="0" tIns="0" rIns="0" bIns="0" rtlCol="0" anchor="ctr"/>
          <a:lstStyle/>
          <a:p>
            <a:pPr indent="0" marL="0">
              <a:buNone/>
            </a:pPr>
            <a:r>
              <a:rPr lang="en-US" sz="1700" b="1" dirty="0">
                <a:solidFill>
                  <a:schemeClr val="tx1"/>
                </a:solidFill>
              </a:rPr>
              <a:t>On Windows</a:t>
            </a:r>
            <a:endParaRPr lang="en-US" sz="1700" dirty="0"/>
          </a:p>
        </p:txBody>
      </p:sp>
      <p:sp>
        <p:nvSpPr>
          <p:cNvPr id="12" name="row 2 text"/>
          <p:cNvSpPr txBox="1"/>
          <p:nvPr/>
        </p:nvSpPr>
        <p:spPr>
          <a:xfrm>
            <a:off x="8641080" y="3209544"/>
            <a:ext cx="2971800" cy="1078992"/>
          </a:xfrm>
          <a:prstGeom prst="rect">
            <a:avLst/>
          </a:prstGeom>
          <a:noFill/>
          <a:ln/>
        </p:spPr>
        <p:txBody>
          <a:bodyPr wrap="square" lIns="0" tIns="0" rIns="0" bIns="0" rtlCol="0" anchor="t"/>
          <a:lstStyle/>
          <a:p>
            <a:pPr indent="0" marL="0">
              <a:buNone/>
            </a:pPr>
            <a:r>
              <a:rPr lang="en-US" sz="1400" dirty="0">
                <a:solidFill>
                  <a:schemeClr val="tx2"/>
                </a:solidFill>
              </a:rPr>
              <a:t>Use set TR_ROOT=%cd% instead of export, or run the notebook from the repository root.</a:t>
            </a:r>
            <a:endParaRPr lang="en-US" sz="1400" dirty="0"/>
          </a:p>
        </p:txBody>
      </p:sp>
      <p:sp>
        <p:nvSpPr>
          <p:cNvPr id="13" name="row 3 circle"/>
          <p:cNvSpPr/>
          <p:nvPr/>
        </p:nvSpPr>
        <p:spPr>
          <a:xfrm>
            <a:off x="7863840" y="4343400"/>
            <a:ext cx="566928" cy="566928"/>
          </a:xfrm>
          <a:prstGeom prst="ellipse">
            <a:avLst/>
          </a:prstGeom>
          <a:solidFill>
            <a:schemeClr val="accent1"/>
          </a:solidFill>
          <a:ln w="12700">
            <a:solidFill>
              <a:schemeClr val="accent1"/>
            </a:solidFill>
            <a:prstDash val="solid"/>
          </a:ln>
        </p:spPr>
      </p:sp>
      <p:pic>
        <p:nvPicPr>
          <p:cNvPr id="14" name="row 3 icon" descr="preencoded.png">    </p:cNvPr>
          <p:cNvPicPr>
            <a:picLocks noChangeAspect="1"/>
          </p:cNvPicPr>
          <p:nvPr/>
        </p:nvPicPr>
        <p:blipFill>
          <a:blip r:embed="rId3"/>
          <a:stretch>
            <a:fillRect/>
          </a:stretch>
        </p:blipFill>
        <p:spPr>
          <a:xfrm>
            <a:off x="8005572" y="4485132"/>
            <a:ext cx="283464" cy="283464"/>
          </a:xfrm>
          <a:prstGeom prst="rect">
            <a:avLst/>
          </a:prstGeom>
        </p:spPr>
      </p:pic>
      <p:sp>
        <p:nvSpPr>
          <p:cNvPr id="15" name="row 3 head"/>
          <p:cNvSpPr txBox="1"/>
          <p:nvPr/>
        </p:nvSpPr>
        <p:spPr>
          <a:xfrm>
            <a:off x="8641080" y="4325112"/>
            <a:ext cx="2971800" cy="347472"/>
          </a:xfrm>
          <a:prstGeom prst="rect">
            <a:avLst/>
          </a:prstGeom>
          <a:noFill/>
          <a:ln/>
        </p:spPr>
        <p:txBody>
          <a:bodyPr wrap="square" lIns="0" tIns="0" rIns="0" bIns="0" rtlCol="0" anchor="ctr"/>
          <a:lstStyle/>
          <a:p>
            <a:pPr indent="0" marL="0">
              <a:buNone/>
            </a:pPr>
            <a:r>
              <a:rPr lang="en-US" sz="1700" b="1" dirty="0">
                <a:solidFill>
                  <a:schemeClr val="tx1"/>
                </a:solidFill>
              </a:rPr>
              <a:t>Full rerun</a:t>
            </a:r>
            <a:endParaRPr lang="en-US" sz="1700" dirty="0"/>
          </a:p>
        </p:txBody>
      </p:sp>
      <p:sp>
        <p:nvSpPr>
          <p:cNvPr id="16" name="row 3 text"/>
          <p:cNvSpPr txBox="1"/>
          <p:nvPr/>
        </p:nvSpPr>
        <p:spPr>
          <a:xfrm>
            <a:off x="8641080" y="4672584"/>
            <a:ext cx="2971800" cy="1078992"/>
          </a:xfrm>
          <a:prstGeom prst="rect">
            <a:avLst/>
          </a:prstGeom>
          <a:noFill/>
          <a:ln/>
        </p:spPr>
        <p:txBody>
          <a:bodyPr wrap="square" lIns="0" tIns="0" rIns="0" bIns="0" rtlCol="0" anchor="t"/>
          <a:lstStyle/>
          <a:p>
            <a:pPr indent="0" marL="0">
              <a:buNone/>
            </a:pPr>
            <a:r>
              <a:rPr lang="en-US" sz="1400" dirty="0">
                <a:solidFill>
                  <a:schemeClr val="tx2"/>
                </a:solidFill>
              </a:rPr>
              <a:t>Open ThermoRoute.ipynb and run Steps 3 to 7 on CPU in about one hour.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76656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Takeaways</a:t>
            </a:r>
            <a:endParaRPr lang="en-US" sz="5400" dirty="0"/>
          </a:p>
        </p:txBody>
      </p:sp>
      <p:sp>
        <p:nvSpPr>
          <p:cNvPr id="3" name="Text 0"/>
          <p:cNvSpPr/>
          <p:nvPr>
            <p:ph idx="101" type="body" hasCustomPrompt="1"/>
          </p:nvPr>
        </p:nvSpPr>
        <p:spPr>
          <a:xfrm>
            <a:off x="640080" y="3246120"/>
            <a:ext cx="6583680" cy="1371600"/>
          </a:xfrm>
          <a:prstGeom prst="rect">
            <a:avLst/>
          </a:prstGeom>
          <a:noFill/>
          <a:ln/>
        </p:spPr>
        <p:txBody>
          <a:bodyPr wrap="square" lIns="0" tIns="0" rIns="0" bIns="0" rtlCol="0" anchor="t"/>
          <a:lstStyle/>
          <a:p>
            <a:pPr indent="0" marL="0">
              <a:buNone/>
            </a:pPr>
            <a:r>
              <a:rPr lang="en-US" sz="2000" dirty="0">
                <a:solidFill>
                  <a:schemeClr val="bg2"/>
                </a:solidFill>
              </a:rPr>
              <a:t>Predict the skin, then trade a little quality for a lot less heat</a:t>
            </a:r>
            <a:endParaRPr lang="en-US" sz="2000" dirty="0"/>
          </a:p>
        </p:txBody>
      </p:sp>
      <p:sp>
        <p:nvSpPr>
          <p:cNvPr id="4" name="takeaway circle 1"/>
          <p:cNvSpPr/>
          <p:nvPr/>
        </p:nvSpPr>
        <p:spPr>
          <a:xfrm>
            <a:off x="7863840" y="1280160"/>
            <a:ext cx="502920" cy="502920"/>
          </a:xfrm>
          <a:prstGeom prst="ellipse">
            <a:avLst/>
          </a:prstGeom>
          <a:solidFill>
            <a:schemeClr val="accent1"/>
          </a:solidFill>
          <a:ln w="12700">
            <a:solidFill>
              <a:schemeClr val="accent1"/>
            </a:solidFill>
            <a:prstDash val="solid"/>
          </a:ln>
        </p:spPr>
      </p:sp>
      <p:sp>
        <p:nvSpPr>
          <p:cNvPr id="5" name="takeaway number 1"/>
          <p:cNvSpPr txBox="1"/>
          <p:nvPr/>
        </p:nvSpPr>
        <p:spPr>
          <a:xfrm>
            <a:off x="7863840" y="12801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akeaway head 1"/>
          <p:cNvSpPr txBox="1"/>
          <p:nvPr/>
        </p:nvSpPr>
        <p:spPr>
          <a:xfrm>
            <a:off x="8549640" y="1261872"/>
            <a:ext cx="3108960" cy="548640"/>
          </a:xfrm>
          <a:prstGeom prst="rect">
            <a:avLst/>
          </a:prstGeom>
          <a:noFill/>
          <a:ln/>
        </p:spPr>
        <p:txBody>
          <a:bodyPr wrap="square" lIns="0" tIns="0" rIns="0" bIns="0" rtlCol="0" anchor="t"/>
          <a:lstStyle/>
          <a:p>
            <a:pPr indent="0" marL="0">
              <a:buNone/>
            </a:pPr>
            <a:r>
              <a:rPr lang="en-US" sz="1600" b="1" dirty="0">
                <a:solidFill>
                  <a:schemeClr val="bg1"/>
                </a:solidFill>
              </a:rPr>
              <a:t>The expert budget is a thermal knob</a:t>
            </a:r>
            <a:endParaRPr lang="en-US" sz="1600" dirty="0"/>
          </a:p>
        </p:txBody>
      </p:sp>
      <p:sp>
        <p:nvSpPr>
          <p:cNvPr id="7" name="takeaway text 1"/>
          <p:cNvSpPr txBox="1"/>
          <p:nvPr/>
        </p:nvSpPr>
        <p:spPr>
          <a:xfrm>
            <a:off x="8549640" y="1828800"/>
            <a:ext cx="3108960" cy="822960"/>
          </a:xfrm>
          <a:prstGeom prst="rect">
            <a:avLst/>
          </a:prstGeom>
          <a:noFill/>
          <a:ln/>
        </p:spPr>
        <p:txBody>
          <a:bodyPr wrap="square" lIns="0" tIns="0" rIns="0" bIns="0" rtlCol="0" anchor="t"/>
          <a:lstStyle/>
          <a:p>
            <a:pPr indent="0" marL="0">
              <a:buNone/>
            </a:pPr>
            <a:r>
              <a:rPr lang="en-US" sz="1300" dirty="0">
                <a:solidFill>
                  <a:schemeClr val="bg2"/>
                </a:solidFill>
              </a:rPr>
              <a:t>In the memory bound regime it acts through the duty cycle, not instantaneous power.</a:t>
            </a:r>
            <a:endParaRPr lang="en-US" sz="1300" dirty="0"/>
          </a:p>
        </p:txBody>
      </p:sp>
      <p:sp>
        <p:nvSpPr>
          <p:cNvPr id="8" name="takeaway circle 2"/>
          <p:cNvSpPr/>
          <p:nvPr/>
        </p:nvSpPr>
        <p:spPr>
          <a:xfrm>
            <a:off x="7863840" y="2788920"/>
            <a:ext cx="502920" cy="502920"/>
          </a:xfrm>
          <a:prstGeom prst="ellipse">
            <a:avLst/>
          </a:prstGeom>
          <a:solidFill>
            <a:schemeClr val="accent1"/>
          </a:solidFill>
          <a:ln w="12700">
            <a:solidFill>
              <a:schemeClr val="accent1"/>
            </a:solidFill>
            <a:prstDash val="solid"/>
          </a:ln>
        </p:spPr>
      </p:sp>
      <p:sp>
        <p:nvSpPr>
          <p:cNvPr id="9" name="takeaway number 2"/>
          <p:cNvSpPr txBox="1"/>
          <p:nvPr/>
        </p:nvSpPr>
        <p:spPr>
          <a:xfrm>
            <a:off x="786384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akeaway head 2"/>
          <p:cNvSpPr txBox="1"/>
          <p:nvPr/>
        </p:nvSpPr>
        <p:spPr>
          <a:xfrm>
            <a:off x="8549640" y="2770632"/>
            <a:ext cx="3108960" cy="548640"/>
          </a:xfrm>
          <a:prstGeom prst="rect">
            <a:avLst/>
          </a:prstGeom>
          <a:noFill/>
          <a:ln/>
        </p:spPr>
        <p:txBody>
          <a:bodyPr wrap="square" lIns="0" tIns="0" rIns="0" bIns="0" rtlCol="0" anchor="t"/>
          <a:lstStyle/>
          <a:p>
            <a:pPr indent="0" marL="0">
              <a:buNone/>
            </a:pPr>
            <a:r>
              <a:rPr lang="en-US" sz="1600" b="1" dirty="0">
                <a:solidFill>
                  <a:schemeClr val="bg1"/>
                </a:solidFill>
              </a:rPr>
              <a:t>Lookahead beats a longer horizon</a:t>
            </a:r>
            <a:endParaRPr lang="en-US" sz="1600" dirty="0"/>
          </a:p>
        </p:txBody>
      </p:sp>
      <p:sp>
        <p:nvSpPr>
          <p:cNvPr id="11" name="takeaway text 2"/>
          <p:cNvSpPr txBox="1"/>
          <p:nvPr/>
        </p:nvSpPr>
        <p:spPr>
          <a:xfrm>
            <a:off x="8549640" y="3337560"/>
            <a:ext cx="3108960" cy="822960"/>
          </a:xfrm>
          <a:prstGeom prst="rect">
            <a:avLst/>
          </a:prstGeom>
          <a:noFill/>
          <a:ln/>
        </p:spPr>
        <p:txBody>
          <a:bodyPr wrap="square" lIns="0" tIns="0" rIns="0" bIns="0" rtlCol="0" anchor="t"/>
          <a:lstStyle/>
          <a:p>
            <a:pPr indent="0" marL="0">
              <a:buNone/>
            </a:pPr>
            <a:r>
              <a:rPr lang="en-US" sz="1300" dirty="0">
                <a:solidFill>
                  <a:schemeClr val="bg2"/>
                </a:solidFill>
              </a:rPr>
              <a:t>The 180 s closed form skin projection matters more than the horizon length.</a:t>
            </a:r>
            <a:endParaRPr lang="en-US" sz="1300" dirty="0"/>
          </a:p>
        </p:txBody>
      </p:sp>
      <p:sp>
        <p:nvSpPr>
          <p:cNvPr id="12" name="takeaway circle 3"/>
          <p:cNvSpPr/>
          <p:nvPr/>
        </p:nvSpPr>
        <p:spPr>
          <a:xfrm>
            <a:off x="7863840" y="4297680"/>
            <a:ext cx="502920" cy="502920"/>
          </a:xfrm>
          <a:prstGeom prst="ellipse">
            <a:avLst/>
          </a:prstGeom>
          <a:solidFill>
            <a:schemeClr val="accent1"/>
          </a:solidFill>
          <a:ln w="12700">
            <a:solidFill>
              <a:schemeClr val="accent1"/>
            </a:solidFill>
            <a:prstDash val="solid"/>
          </a:ln>
        </p:spPr>
      </p:sp>
      <p:sp>
        <p:nvSpPr>
          <p:cNvPr id="13" name="takeaway number 3"/>
          <p:cNvSpPr txBox="1"/>
          <p:nvPr/>
        </p:nvSpPr>
        <p:spPr>
          <a:xfrm>
            <a:off x="7863840" y="42976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akeaway head 3"/>
          <p:cNvSpPr txBox="1"/>
          <p:nvPr/>
        </p:nvSpPr>
        <p:spPr>
          <a:xfrm>
            <a:off x="8549640" y="4279392"/>
            <a:ext cx="3108960" cy="548640"/>
          </a:xfrm>
          <a:prstGeom prst="rect">
            <a:avLst/>
          </a:prstGeom>
          <a:noFill/>
          <a:ln/>
        </p:spPr>
        <p:txBody>
          <a:bodyPr wrap="square" lIns="0" tIns="0" rIns="0" bIns="0" rtlCol="0" anchor="t"/>
          <a:lstStyle/>
          <a:p>
            <a:pPr indent="0" marL="0">
              <a:buNone/>
            </a:pPr>
            <a:r>
              <a:rPr lang="en-US" sz="1600" b="1" dirty="0">
                <a:solidFill>
                  <a:schemeClr val="bg1"/>
                </a:solidFill>
              </a:rPr>
              <a:t>Small cost, large gain</a:t>
            </a:r>
            <a:endParaRPr lang="en-US" sz="1600" dirty="0"/>
          </a:p>
        </p:txBody>
      </p:sp>
      <p:sp>
        <p:nvSpPr>
          <p:cNvPr id="15" name="takeaway text 3"/>
          <p:cNvSpPr txBox="1"/>
          <p:nvPr/>
        </p:nvSpPr>
        <p:spPr>
          <a:xfrm>
            <a:off x="8549640" y="4846320"/>
            <a:ext cx="3108960" cy="822960"/>
          </a:xfrm>
          <a:prstGeom prst="rect">
            <a:avLst/>
          </a:prstGeom>
          <a:noFill/>
          <a:ln/>
        </p:spPr>
        <p:txBody>
          <a:bodyPr wrap="square" lIns="0" tIns="0" rIns="0" bIns="0" rtlCol="0" anchor="t"/>
          <a:lstStyle/>
          <a:p>
            <a:pPr indent="0" marL="0">
              <a:buNone/>
            </a:pPr>
            <a:r>
              <a:rPr lang="en-US" sz="1300" dirty="0">
                <a:solidFill>
                  <a:schemeClr val="bg2"/>
                </a:solidFill>
              </a:rPr>
              <a:t>5.2% perplexity for over 92% less throttling, 22% less energy, and 37% lower p95 latency.</a:t>
            </a:r>
            <a:endParaRPr lang="en-US" sz="1300" dirty="0"/>
          </a:p>
        </p:txBody>
      </p:sp>
    </p:spTree>
  </p:cSld>
  <p:clrMapOvr>
    <a:masterClrMapping/>
  </p:clrMapOvr>
</p:sld>
</file>

<file path=ppt/theme/theme1.xml><?xml version="1.0" encoding="utf-8"?>
<a:theme xmlns:a="http://schemas.openxmlformats.org/drawingml/2006/main" name="ThermoRoute">
  <a:themeElements>
    <a:clrScheme name="ThermoRoute">
      <a:dk1>
        <a:srgbClr val="1B2430"/>
      </a:dk1>
      <a:lt1>
        <a:srgbClr val="FFFFFF"/>
      </a:lt1>
      <a:dk2>
        <a:srgbClr val="3A4756"/>
      </a:dk2>
      <a:lt2>
        <a:srgbClr val="EEF2F6"/>
      </a:lt2>
      <a:accent1>
        <a:srgbClr val="E4572E"/>
      </a:accent1>
      <a:accent2>
        <a:srgbClr val="F3A712"/>
      </a:accent2>
      <a:accent3>
        <a:srgbClr val="2E86AB"/>
      </a:accent3>
      <a:accent4>
        <a:srgbClr val="3BA55C"/>
      </a:accent4>
      <a:accent5>
        <a:srgbClr val="8A94A0"/>
      </a:accent5>
      <a:accent6>
        <a:srgbClr val="7B2D26"/>
      </a:accent6>
      <a:hlink>
        <a:srgbClr val="2E86AB"/>
      </a:hlink>
      <a:folHlink>
        <a:srgbClr val="7B2D26"/>
      </a:folHlink>
    </a:clrScheme>
    <a:fontScheme name="ThermoRou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ThermoRoute</dc:title>
  <dc:subject>Thermal throttling aware expert scheduling for smartphone MoE inference</dc:subject>
  <dc:creator>PptxGenJS</dc:creator>
  <cp:lastModifiedBy>PptxGenJS</cp:lastModifiedBy>
  <cp:revision>1</cp:revision>
  <dcterms:created xsi:type="dcterms:W3CDTF">2026-10-15T08:50:52Z</dcterms:created>
  <dcterms:modified xsi:type="dcterms:W3CDTF">2026-10-15T08:50:52Z</dcterms:modified>
</cp:coreProperties>
</file>